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C374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685800" y="731519"/>
            <a:ext cx="109728" cy="5074922"/>
          </a:xfrm>
          <a:prstGeom prst="rect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1142999" y="1234439"/>
            <a:ext cx="6084564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8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Criteria of Good Research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161288" y="2834639"/>
            <a:ext cx="739802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100">
                <a:solidFill>
                  <a:srgbClr val="DCE8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Simple and practical points for understanding quality research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2"/>
          <p:cNvSpPr txBox="1"/>
          <p:nvPr/>
        </p:nvSpPr>
        <p:spPr>
          <a:xfrm>
            <a:off x="685800" y="411480"/>
            <a:ext cx="4312826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is Good Research?</a:t>
            </a:r>
          </a:p>
        </p:txBody>
      </p:sp>
      <p:sp>
        <p:nvSpPr>
          <p:cNvPr id="101" name="TextBox 3"/>
          <p:cNvSpPr txBox="1"/>
          <p:nvPr/>
        </p:nvSpPr>
        <p:spPr>
          <a:xfrm>
            <a:off x="704088" y="1051560"/>
            <a:ext cx="497733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rgbClr val="29787D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Research should produce useful, trustworthy and clear knowledge.</a:t>
            </a:r>
          </a:p>
        </p:txBody>
      </p:sp>
      <p:sp>
        <p:nvSpPr>
          <p:cNvPr id="102" name="TextBox 4"/>
          <p:cNvSpPr txBox="1"/>
          <p:nvPr/>
        </p:nvSpPr>
        <p:spPr>
          <a:xfrm>
            <a:off x="932687" y="1554480"/>
            <a:ext cx="10241282" cy="189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21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starts with a clear question or problem.</a:t>
            </a:r>
          </a:p>
          <a:p>
            <a:pPr>
              <a:spcBef>
                <a:spcPts val="1400"/>
              </a:spcBef>
              <a:defRPr sz="21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follows a planned and logical process.</a:t>
            </a:r>
          </a:p>
          <a:p>
            <a:pPr>
              <a:spcBef>
                <a:spcPts val="1400"/>
              </a:spcBef>
              <a:defRPr sz="21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uses suitable methods and reliable information.</a:t>
            </a:r>
          </a:p>
          <a:p>
            <a:pPr>
              <a:spcBef>
                <a:spcPts val="1400"/>
              </a:spcBef>
              <a:defRPr sz="21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 reports findings honestly and explains their limits.</a:t>
            </a:r>
          </a:p>
        </p:txBody>
      </p:sp>
      <p:sp>
        <p:nvSpPr>
          <p:cNvPr id="103" name="Rectangle 5"/>
          <p:cNvSpPr/>
          <p:nvPr/>
        </p:nvSpPr>
        <p:spPr>
          <a:xfrm>
            <a:off x="640079" y="6473952"/>
            <a:ext cx="10927082" cy="18289"/>
          </a:xfrm>
          <a:prstGeom prst="rect">
            <a:avLst/>
          </a:prstGeom>
          <a:solidFill>
            <a:srgbClr val="DCE8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6"/>
          <p:cNvSpPr txBox="1"/>
          <p:nvPr/>
        </p:nvSpPr>
        <p:spPr>
          <a:xfrm>
            <a:off x="11313648" y="6510528"/>
            <a:ext cx="1620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788287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685800" y="411480"/>
            <a:ext cx="474829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Criteria 1–3: Clear Planning</a:t>
            </a:r>
          </a:p>
        </p:txBody>
      </p:sp>
      <p:sp>
        <p:nvSpPr>
          <p:cNvPr id="108" name="Rounded Rectangle 3"/>
          <p:cNvSpPr/>
          <p:nvPr/>
        </p:nvSpPr>
        <p:spPr>
          <a:xfrm>
            <a:off x="685800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Oval 4"/>
          <p:cNvSpPr/>
          <p:nvPr/>
        </p:nvSpPr>
        <p:spPr>
          <a:xfrm>
            <a:off x="886967" y="1645920"/>
            <a:ext cx="566929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5"/>
          <p:cNvSpPr txBox="1"/>
          <p:nvPr/>
        </p:nvSpPr>
        <p:spPr>
          <a:xfrm>
            <a:off x="1073304" y="1719072"/>
            <a:ext cx="194256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1" name="TextBox 6"/>
          <p:cNvSpPr txBox="1"/>
          <p:nvPr/>
        </p:nvSpPr>
        <p:spPr>
          <a:xfrm>
            <a:off x="1645919" y="1618488"/>
            <a:ext cx="174022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Clear Purpose</a:t>
            </a:r>
          </a:p>
        </p:txBody>
      </p:sp>
      <p:sp>
        <p:nvSpPr>
          <p:cNvPr id="112" name="TextBox 7"/>
          <p:cNvSpPr txBox="1"/>
          <p:nvPr/>
        </p:nvSpPr>
        <p:spPr>
          <a:xfrm>
            <a:off x="1645919" y="2103120"/>
            <a:ext cx="224028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research objective should be easy to understand. Use simple and clearly defined terms.</a:t>
            </a:r>
          </a:p>
        </p:txBody>
      </p:sp>
      <p:sp>
        <p:nvSpPr>
          <p:cNvPr id="113" name="Rounded Rectangle 8"/>
          <p:cNvSpPr/>
          <p:nvPr/>
        </p:nvSpPr>
        <p:spPr>
          <a:xfrm>
            <a:off x="4370832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Oval 9"/>
          <p:cNvSpPr/>
          <p:nvPr/>
        </p:nvSpPr>
        <p:spPr>
          <a:xfrm>
            <a:off x="4572000" y="1645920"/>
            <a:ext cx="566928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0"/>
          <p:cNvSpPr txBox="1"/>
          <p:nvPr/>
        </p:nvSpPr>
        <p:spPr>
          <a:xfrm>
            <a:off x="4758336" y="1719072"/>
            <a:ext cx="194256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6" name="TextBox 11"/>
          <p:cNvSpPr txBox="1"/>
          <p:nvPr/>
        </p:nvSpPr>
        <p:spPr>
          <a:xfrm>
            <a:off x="5330952" y="1618488"/>
            <a:ext cx="1967617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Detailed Method</a:t>
            </a:r>
          </a:p>
        </p:txBody>
      </p:sp>
      <p:sp>
        <p:nvSpPr>
          <p:cNvPr id="117" name="TextBox 12"/>
          <p:cNvSpPr txBox="1"/>
          <p:nvPr/>
        </p:nvSpPr>
        <p:spPr>
          <a:xfrm>
            <a:off x="5330952" y="2103120"/>
            <a:ext cx="2240281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Describe the steps, tools and procedures clearly so another researcher can repeat the study.</a:t>
            </a:r>
          </a:p>
        </p:txBody>
      </p:sp>
      <p:sp>
        <p:nvSpPr>
          <p:cNvPr id="118" name="Rounded Rectangle 13"/>
          <p:cNvSpPr/>
          <p:nvPr/>
        </p:nvSpPr>
        <p:spPr>
          <a:xfrm>
            <a:off x="8055864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Oval 14"/>
          <p:cNvSpPr/>
          <p:nvPr/>
        </p:nvSpPr>
        <p:spPr>
          <a:xfrm>
            <a:off x="8257031" y="1645920"/>
            <a:ext cx="566929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15"/>
          <p:cNvSpPr txBox="1"/>
          <p:nvPr/>
        </p:nvSpPr>
        <p:spPr>
          <a:xfrm>
            <a:off x="8443367" y="1719072"/>
            <a:ext cx="194257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1" name="TextBox 16"/>
          <p:cNvSpPr txBox="1"/>
          <p:nvPr/>
        </p:nvSpPr>
        <p:spPr>
          <a:xfrm>
            <a:off x="9015984" y="1618488"/>
            <a:ext cx="2021344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Careful Planning</a:t>
            </a:r>
          </a:p>
        </p:txBody>
      </p:sp>
      <p:sp>
        <p:nvSpPr>
          <p:cNvPr id="122" name="TextBox 17"/>
          <p:cNvSpPr txBox="1"/>
          <p:nvPr/>
        </p:nvSpPr>
        <p:spPr>
          <a:xfrm>
            <a:off x="9015984" y="2103120"/>
            <a:ext cx="2240281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Plan the research before collecting data. Good planning helps reduce errors and improves objectivity.</a:t>
            </a:r>
          </a:p>
        </p:txBody>
      </p:sp>
      <p:sp>
        <p:nvSpPr>
          <p:cNvPr id="123" name="Rectangle 18"/>
          <p:cNvSpPr/>
          <p:nvPr/>
        </p:nvSpPr>
        <p:spPr>
          <a:xfrm>
            <a:off x="640079" y="6473952"/>
            <a:ext cx="10927082" cy="18289"/>
          </a:xfrm>
          <a:prstGeom prst="rect">
            <a:avLst/>
          </a:prstGeom>
          <a:solidFill>
            <a:srgbClr val="DCE8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19"/>
          <p:cNvSpPr txBox="1"/>
          <p:nvPr/>
        </p:nvSpPr>
        <p:spPr>
          <a:xfrm>
            <a:off x="11313648" y="6510528"/>
            <a:ext cx="1620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788287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"/>
          <p:cNvSpPr txBox="1"/>
          <p:nvPr/>
        </p:nvSpPr>
        <p:spPr>
          <a:xfrm>
            <a:off x="685800" y="411480"/>
            <a:ext cx="599289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Criteria 4–6: Data and Conclusions</a:t>
            </a:r>
          </a:p>
        </p:txBody>
      </p:sp>
      <p:sp>
        <p:nvSpPr>
          <p:cNvPr id="128" name="Rounded Rectangle 3"/>
          <p:cNvSpPr/>
          <p:nvPr/>
        </p:nvSpPr>
        <p:spPr>
          <a:xfrm>
            <a:off x="685800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Oval 4"/>
          <p:cNvSpPr/>
          <p:nvPr/>
        </p:nvSpPr>
        <p:spPr>
          <a:xfrm>
            <a:off x="886967" y="1645920"/>
            <a:ext cx="566929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5"/>
          <p:cNvSpPr txBox="1"/>
          <p:nvPr/>
        </p:nvSpPr>
        <p:spPr>
          <a:xfrm>
            <a:off x="1073304" y="1719072"/>
            <a:ext cx="194256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1" name="TextBox 6"/>
          <p:cNvSpPr txBox="1"/>
          <p:nvPr/>
        </p:nvSpPr>
        <p:spPr>
          <a:xfrm>
            <a:off x="1645919" y="1618488"/>
            <a:ext cx="2128328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Honest Reporting</a:t>
            </a:r>
          </a:p>
        </p:txBody>
      </p:sp>
      <p:sp>
        <p:nvSpPr>
          <p:cNvPr id="132" name="TextBox 7"/>
          <p:cNvSpPr txBox="1"/>
          <p:nvPr/>
        </p:nvSpPr>
        <p:spPr>
          <a:xfrm>
            <a:off x="1645919" y="2103120"/>
            <a:ext cx="2240282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Mention limitations, unexpected results and possible sources of error instead of hiding them.</a:t>
            </a:r>
          </a:p>
        </p:txBody>
      </p:sp>
      <p:sp>
        <p:nvSpPr>
          <p:cNvPr id="133" name="Rounded Rectangle 8"/>
          <p:cNvSpPr/>
          <p:nvPr/>
        </p:nvSpPr>
        <p:spPr>
          <a:xfrm>
            <a:off x="4370832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Oval 9"/>
          <p:cNvSpPr/>
          <p:nvPr/>
        </p:nvSpPr>
        <p:spPr>
          <a:xfrm>
            <a:off x="4572000" y="1645920"/>
            <a:ext cx="566928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0"/>
          <p:cNvSpPr txBox="1"/>
          <p:nvPr/>
        </p:nvSpPr>
        <p:spPr>
          <a:xfrm>
            <a:off x="4758336" y="1719072"/>
            <a:ext cx="194256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6" name="TextBox 11"/>
          <p:cNvSpPr txBox="1"/>
          <p:nvPr/>
        </p:nvSpPr>
        <p:spPr>
          <a:xfrm>
            <a:off x="5330952" y="1618488"/>
            <a:ext cx="209345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Suitable Analysis</a:t>
            </a:r>
          </a:p>
        </p:txBody>
      </p:sp>
      <p:sp>
        <p:nvSpPr>
          <p:cNvPr id="137" name="TextBox 12"/>
          <p:cNvSpPr txBox="1"/>
          <p:nvPr/>
        </p:nvSpPr>
        <p:spPr>
          <a:xfrm>
            <a:off x="5330952" y="2103120"/>
            <a:ext cx="2240281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Choose analysis methods that fit the type of data. Check whether the results are valid and dependable.</a:t>
            </a:r>
          </a:p>
        </p:txBody>
      </p:sp>
      <p:sp>
        <p:nvSpPr>
          <p:cNvPr id="138" name="Rounded Rectangle 13"/>
          <p:cNvSpPr/>
          <p:nvPr/>
        </p:nvSpPr>
        <p:spPr>
          <a:xfrm>
            <a:off x="8055864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Oval 14"/>
          <p:cNvSpPr/>
          <p:nvPr/>
        </p:nvSpPr>
        <p:spPr>
          <a:xfrm>
            <a:off x="8257031" y="1645920"/>
            <a:ext cx="566929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15"/>
          <p:cNvSpPr txBox="1"/>
          <p:nvPr/>
        </p:nvSpPr>
        <p:spPr>
          <a:xfrm>
            <a:off x="8443367" y="1719072"/>
            <a:ext cx="194257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41" name="TextBox 16"/>
          <p:cNvSpPr txBox="1"/>
          <p:nvPr/>
        </p:nvSpPr>
        <p:spPr>
          <a:xfrm>
            <a:off x="9015984" y="1618488"/>
            <a:ext cx="2035365" cy="67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Evidence-Based </a:t>
            </a:r>
          </a:p>
          <a:p>
            <a: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Conclusion</a:t>
            </a:r>
          </a:p>
        </p:txBody>
      </p:sp>
      <p:sp>
        <p:nvSpPr>
          <p:cNvPr id="142" name="TextBox 17"/>
          <p:cNvSpPr txBox="1"/>
          <p:nvPr/>
        </p:nvSpPr>
        <p:spPr>
          <a:xfrm>
            <a:off x="9015983" y="2334861"/>
            <a:ext cx="2240281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Conclusions should come from the collected evidence and should not go beyond what the data supports.</a:t>
            </a:r>
          </a:p>
        </p:txBody>
      </p:sp>
      <p:sp>
        <p:nvSpPr>
          <p:cNvPr id="143" name="Rectangle 18"/>
          <p:cNvSpPr/>
          <p:nvPr/>
        </p:nvSpPr>
        <p:spPr>
          <a:xfrm>
            <a:off x="640079" y="6473952"/>
            <a:ext cx="10927082" cy="18289"/>
          </a:xfrm>
          <a:prstGeom prst="rect">
            <a:avLst/>
          </a:prstGeom>
          <a:solidFill>
            <a:srgbClr val="DCE8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9"/>
          <p:cNvSpPr txBox="1"/>
          <p:nvPr/>
        </p:nvSpPr>
        <p:spPr>
          <a:xfrm>
            <a:off x="11313648" y="6510528"/>
            <a:ext cx="1620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788287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2"/>
          <p:cNvSpPr txBox="1"/>
          <p:nvPr/>
        </p:nvSpPr>
        <p:spPr>
          <a:xfrm>
            <a:off x="685800" y="411480"/>
            <a:ext cx="5320070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Additional Criteria: New Points</a:t>
            </a:r>
          </a:p>
        </p:txBody>
      </p:sp>
      <p:sp>
        <p:nvSpPr>
          <p:cNvPr id="148" name="Rounded Rectangle 3"/>
          <p:cNvSpPr/>
          <p:nvPr/>
        </p:nvSpPr>
        <p:spPr>
          <a:xfrm>
            <a:off x="685800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Oval 4"/>
          <p:cNvSpPr/>
          <p:nvPr/>
        </p:nvSpPr>
        <p:spPr>
          <a:xfrm>
            <a:off x="886967" y="1645920"/>
            <a:ext cx="566929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5"/>
          <p:cNvSpPr txBox="1"/>
          <p:nvPr/>
        </p:nvSpPr>
        <p:spPr>
          <a:xfrm>
            <a:off x="1073304" y="1719072"/>
            <a:ext cx="194256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51" name="TextBox 6"/>
          <p:cNvSpPr txBox="1"/>
          <p:nvPr/>
        </p:nvSpPr>
        <p:spPr>
          <a:xfrm>
            <a:off x="1645919" y="1618488"/>
            <a:ext cx="1940755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Ethical Conduct</a:t>
            </a:r>
          </a:p>
        </p:txBody>
      </p:sp>
      <p:sp>
        <p:nvSpPr>
          <p:cNvPr id="152" name="TextBox 7"/>
          <p:cNvSpPr txBox="1"/>
          <p:nvPr/>
        </p:nvSpPr>
        <p:spPr>
          <a:xfrm>
            <a:off x="1645919" y="2103120"/>
            <a:ext cx="2240282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Protect participants, obtain informed consent when needed, and keep personal information private.</a:t>
            </a:r>
          </a:p>
        </p:txBody>
      </p:sp>
      <p:sp>
        <p:nvSpPr>
          <p:cNvPr id="153" name="Rounded Rectangle 8"/>
          <p:cNvSpPr/>
          <p:nvPr/>
        </p:nvSpPr>
        <p:spPr>
          <a:xfrm>
            <a:off x="4370832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Oval 9"/>
          <p:cNvSpPr/>
          <p:nvPr/>
        </p:nvSpPr>
        <p:spPr>
          <a:xfrm>
            <a:off x="4572000" y="1645920"/>
            <a:ext cx="566928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10"/>
          <p:cNvSpPr txBox="1"/>
          <p:nvPr/>
        </p:nvSpPr>
        <p:spPr>
          <a:xfrm>
            <a:off x="4758336" y="1719072"/>
            <a:ext cx="194256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56" name="TextBox 11"/>
          <p:cNvSpPr txBox="1"/>
          <p:nvPr/>
        </p:nvSpPr>
        <p:spPr>
          <a:xfrm>
            <a:off x="5330952" y="1618488"/>
            <a:ext cx="2034894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Proper Sampling</a:t>
            </a:r>
          </a:p>
        </p:txBody>
      </p:sp>
      <p:sp>
        <p:nvSpPr>
          <p:cNvPr id="157" name="TextBox 12"/>
          <p:cNvSpPr txBox="1"/>
          <p:nvPr/>
        </p:nvSpPr>
        <p:spPr>
          <a:xfrm>
            <a:off x="5330952" y="2103120"/>
            <a:ext cx="2240281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Select participants or data sources carefully so that the study represents the intended group as fairly as possible.</a:t>
            </a:r>
          </a:p>
        </p:txBody>
      </p:sp>
      <p:sp>
        <p:nvSpPr>
          <p:cNvPr id="158" name="Rounded Rectangle 13"/>
          <p:cNvSpPr/>
          <p:nvPr/>
        </p:nvSpPr>
        <p:spPr>
          <a:xfrm>
            <a:off x="8055864" y="1417319"/>
            <a:ext cx="3474721" cy="42519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Oval 14"/>
          <p:cNvSpPr/>
          <p:nvPr/>
        </p:nvSpPr>
        <p:spPr>
          <a:xfrm>
            <a:off x="8257031" y="1645920"/>
            <a:ext cx="566929" cy="566929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TextBox 15"/>
          <p:cNvSpPr txBox="1"/>
          <p:nvPr/>
        </p:nvSpPr>
        <p:spPr>
          <a:xfrm>
            <a:off x="8443367" y="1719072"/>
            <a:ext cx="194257" cy="28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61" name="TextBox 16"/>
          <p:cNvSpPr txBox="1"/>
          <p:nvPr/>
        </p:nvSpPr>
        <p:spPr>
          <a:xfrm>
            <a:off x="9015984" y="1618488"/>
            <a:ext cx="1807851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9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Practical Value</a:t>
            </a:r>
          </a:p>
        </p:txBody>
      </p:sp>
      <p:sp>
        <p:nvSpPr>
          <p:cNvPr id="162" name="TextBox 17"/>
          <p:cNvSpPr txBox="1"/>
          <p:nvPr/>
        </p:nvSpPr>
        <p:spPr>
          <a:xfrm>
            <a:off x="9015984" y="2103120"/>
            <a:ext cx="2240281" cy="11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Good research should answer a meaningful question and, where possible, contribute useful knowledge or solutions.</a:t>
            </a:r>
          </a:p>
        </p:txBody>
      </p:sp>
      <p:sp>
        <p:nvSpPr>
          <p:cNvPr id="163" name="Rectangle 18"/>
          <p:cNvSpPr/>
          <p:nvPr/>
        </p:nvSpPr>
        <p:spPr>
          <a:xfrm>
            <a:off x="640079" y="6473952"/>
            <a:ext cx="10927082" cy="18289"/>
          </a:xfrm>
          <a:prstGeom prst="rect">
            <a:avLst/>
          </a:prstGeom>
          <a:solidFill>
            <a:srgbClr val="DCE8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9"/>
          <p:cNvSpPr txBox="1"/>
          <p:nvPr/>
        </p:nvSpPr>
        <p:spPr>
          <a:xfrm>
            <a:off x="11313648" y="6510528"/>
            <a:ext cx="1620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788287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"/>
          <p:cNvSpPr txBox="1"/>
          <p:nvPr/>
        </p:nvSpPr>
        <p:spPr>
          <a:xfrm>
            <a:off x="685800" y="411480"/>
            <a:ext cx="5715953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More Qualities of Good Research</a:t>
            </a:r>
          </a:p>
        </p:txBody>
      </p:sp>
      <p:sp>
        <p:nvSpPr>
          <p:cNvPr id="168" name="TextBox 3"/>
          <p:cNvSpPr txBox="1"/>
          <p:nvPr/>
        </p:nvSpPr>
        <p:spPr>
          <a:xfrm>
            <a:off x="932687" y="1417320"/>
            <a:ext cx="10241282" cy="208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defRPr sz="19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b="1"/>
              <a:t>Transparency</a:t>
            </a:r>
            <a:r>
              <a:t>: explain how data were collected and how decisions were made.</a:t>
            </a:r>
          </a:p>
          <a:p>
            <a:pPr>
              <a:spcBef>
                <a:spcPts val="1400"/>
              </a:spcBef>
              <a:defRPr sz="19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b="1"/>
              <a:t>Consistency</a:t>
            </a:r>
            <a:r>
              <a:t>: use the same procedure carefully across the study.</a:t>
            </a:r>
          </a:p>
          <a:p>
            <a:pPr>
              <a:spcBef>
                <a:spcPts val="1400"/>
              </a:spcBef>
              <a:defRPr sz="19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b="1"/>
              <a:t>Originality</a:t>
            </a:r>
            <a:r>
              <a:t>: add a useful idea, finding or perspective to existing knowledge.</a:t>
            </a:r>
          </a:p>
          <a:p>
            <a:pPr>
              <a:spcBef>
                <a:spcPts val="1400"/>
              </a:spcBef>
              <a:defRPr sz="1900">
                <a:solidFill>
                  <a:srgbClr val="28303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rPr b="1"/>
              <a:t>Clear presentation</a:t>
            </a:r>
            <a:r>
              <a:t>: use simple tables, figures and language so readers can understand the findings.</a:t>
            </a:r>
          </a:p>
        </p:txBody>
      </p:sp>
      <p:sp>
        <p:nvSpPr>
          <p:cNvPr id="169" name="Rectangle 4"/>
          <p:cNvSpPr/>
          <p:nvPr/>
        </p:nvSpPr>
        <p:spPr>
          <a:xfrm>
            <a:off x="640079" y="6473952"/>
            <a:ext cx="10927082" cy="18289"/>
          </a:xfrm>
          <a:prstGeom prst="rect">
            <a:avLst/>
          </a:prstGeom>
          <a:solidFill>
            <a:srgbClr val="DCE8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5"/>
          <p:cNvSpPr txBox="1"/>
          <p:nvPr/>
        </p:nvSpPr>
        <p:spPr>
          <a:xfrm>
            <a:off x="11313648" y="6510528"/>
            <a:ext cx="1620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788287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685800" y="411480"/>
            <a:ext cx="5677754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800">
                <a:solidFill>
                  <a:srgbClr val="1C374B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Quick Checklist for a Researcher</a:t>
            </a:r>
          </a:p>
        </p:txBody>
      </p:sp>
      <p:sp>
        <p:nvSpPr>
          <p:cNvPr id="174" name="Rounded Rectangle 3"/>
          <p:cNvSpPr/>
          <p:nvPr/>
        </p:nvSpPr>
        <p:spPr>
          <a:xfrm>
            <a:off x="822960" y="1417319"/>
            <a:ext cx="5074921" cy="1051562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5" name="Oval 4"/>
          <p:cNvSpPr/>
          <p:nvPr/>
        </p:nvSpPr>
        <p:spPr>
          <a:xfrm>
            <a:off x="987552" y="1645920"/>
            <a:ext cx="502921" cy="502921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TextBox 5"/>
          <p:cNvSpPr txBox="1"/>
          <p:nvPr/>
        </p:nvSpPr>
        <p:spPr>
          <a:xfrm>
            <a:off x="1148320" y="1728216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7" name="TextBox 6"/>
          <p:cNvSpPr txBox="1"/>
          <p:nvPr/>
        </p:nvSpPr>
        <p:spPr>
          <a:xfrm>
            <a:off x="1691640" y="1618488"/>
            <a:ext cx="2775798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>
                <a:solidFill>
                  <a:srgbClr val="283034"/>
                </a:solidFill>
              </a:defRPr>
            </a:lvl1pPr>
          </a:lstStyle>
          <a:p>
            <a:pPr/>
            <a:r>
              <a:t>Is the research question clear?</a:t>
            </a:r>
          </a:p>
        </p:txBody>
      </p:sp>
      <p:sp>
        <p:nvSpPr>
          <p:cNvPr id="178" name="Rounded Rectangle 7"/>
          <p:cNvSpPr/>
          <p:nvPr/>
        </p:nvSpPr>
        <p:spPr>
          <a:xfrm>
            <a:off x="6355079" y="1417319"/>
            <a:ext cx="5074921" cy="1051562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Oval 8"/>
          <p:cNvSpPr/>
          <p:nvPr/>
        </p:nvSpPr>
        <p:spPr>
          <a:xfrm>
            <a:off x="6519671" y="1645920"/>
            <a:ext cx="502921" cy="502921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9"/>
          <p:cNvSpPr txBox="1"/>
          <p:nvPr/>
        </p:nvSpPr>
        <p:spPr>
          <a:xfrm>
            <a:off x="6680440" y="1728216"/>
            <a:ext cx="181383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1" name="TextBox 10"/>
          <p:cNvSpPr txBox="1"/>
          <p:nvPr/>
        </p:nvSpPr>
        <p:spPr>
          <a:xfrm>
            <a:off x="7223760" y="1618488"/>
            <a:ext cx="3538827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>
                <a:solidFill>
                  <a:srgbClr val="283034"/>
                </a:solidFill>
              </a:defRPr>
            </a:lvl1pPr>
          </a:lstStyle>
          <a:p>
            <a:pPr/>
            <a:r>
              <a:t>Is the method suitable and repeatable?</a:t>
            </a:r>
          </a:p>
        </p:txBody>
      </p:sp>
      <p:sp>
        <p:nvSpPr>
          <p:cNvPr id="182" name="Rounded Rectangle 11"/>
          <p:cNvSpPr/>
          <p:nvPr/>
        </p:nvSpPr>
        <p:spPr>
          <a:xfrm>
            <a:off x="822960" y="2834639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Oval 12"/>
          <p:cNvSpPr/>
          <p:nvPr/>
        </p:nvSpPr>
        <p:spPr>
          <a:xfrm>
            <a:off x="987552" y="3063239"/>
            <a:ext cx="502921" cy="502921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13"/>
          <p:cNvSpPr txBox="1"/>
          <p:nvPr/>
        </p:nvSpPr>
        <p:spPr>
          <a:xfrm>
            <a:off x="1148320" y="3145535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5" name="TextBox 14"/>
          <p:cNvSpPr txBox="1"/>
          <p:nvPr/>
        </p:nvSpPr>
        <p:spPr>
          <a:xfrm>
            <a:off x="1691640" y="3035807"/>
            <a:ext cx="2992014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>
                <a:solidFill>
                  <a:srgbClr val="283034"/>
                </a:solidFill>
              </a:defRPr>
            </a:lvl1pPr>
          </a:lstStyle>
          <a:p>
            <a:pPr/>
            <a:r>
              <a:t>Was the data collected carefully?</a:t>
            </a:r>
          </a:p>
        </p:txBody>
      </p:sp>
      <p:sp>
        <p:nvSpPr>
          <p:cNvPr id="186" name="Rounded Rectangle 15"/>
          <p:cNvSpPr/>
          <p:nvPr/>
        </p:nvSpPr>
        <p:spPr>
          <a:xfrm>
            <a:off x="6355079" y="2834639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Oval 16"/>
          <p:cNvSpPr/>
          <p:nvPr/>
        </p:nvSpPr>
        <p:spPr>
          <a:xfrm>
            <a:off x="6519671" y="3063239"/>
            <a:ext cx="502921" cy="502921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17"/>
          <p:cNvSpPr txBox="1"/>
          <p:nvPr/>
        </p:nvSpPr>
        <p:spPr>
          <a:xfrm>
            <a:off x="6680440" y="3145535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9" name="TextBox 18"/>
          <p:cNvSpPr txBox="1"/>
          <p:nvPr/>
        </p:nvSpPr>
        <p:spPr>
          <a:xfrm>
            <a:off x="7223760" y="3035807"/>
            <a:ext cx="2596795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>
                <a:solidFill>
                  <a:srgbClr val="283034"/>
                </a:solidFill>
              </a:defRPr>
            </a:lvl1pPr>
          </a:lstStyle>
          <a:p>
            <a:pPr/>
            <a:r>
              <a:t>Were ethical rules followed?</a:t>
            </a:r>
          </a:p>
        </p:txBody>
      </p:sp>
      <p:sp>
        <p:nvSpPr>
          <p:cNvPr id="190" name="Rounded Rectangle 19"/>
          <p:cNvSpPr/>
          <p:nvPr/>
        </p:nvSpPr>
        <p:spPr>
          <a:xfrm>
            <a:off x="822960" y="4251959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Oval 20"/>
          <p:cNvSpPr/>
          <p:nvPr/>
        </p:nvSpPr>
        <p:spPr>
          <a:xfrm>
            <a:off x="987552" y="4480559"/>
            <a:ext cx="502921" cy="502921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1"/>
          <p:cNvSpPr txBox="1"/>
          <p:nvPr/>
        </p:nvSpPr>
        <p:spPr>
          <a:xfrm>
            <a:off x="1148320" y="4562855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3" name="TextBox 22"/>
          <p:cNvSpPr txBox="1"/>
          <p:nvPr/>
        </p:nvSpPr>
        <p:spPr>
          <a:xfrm>
            <a:off x="1691640" y="4453128"/>
            <a:ext cx="2499597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>
                <a:solidFill>
                  <a:srgbClr val="283034"/>
                </a:solidFill>
              </a:defRPr>
            </a:lvl1pPr>
          </a:lstStyle>
          <a:p>
            <a:pPr/>
            <a:r>
              <a:t>Is the analysis appropriate?</a:t>
            </a:r>
          </a:p>
        </p:txBody>
      </p:sp>
      <p:sp>
        <p:nvSpPr>
          <p:cNvPr id="194" name="Rounded Rectangle 23"/>
          <p:cNvSpPr/>
          <p:nvPr/>
        </p:nvSpPr>
        <p:spPr>
          <a:xfrm>
            <a:off x="6355079" y="4251959"/>
            <a:ext cx="5074921" cy="1051561"/>
          </a:xfrm>
          <a:prstGeom prst="roundRect">
            <a:avLst>
              <a:gd name="adj" fmla="val 16667"/>
            </a:avLst>
          </a:prstGeom>
          <a:solidFill>
            <a:srgbClr val="F2F7F8"/>
          </a:solidFill>
          <a:ln>
            <a:solidFill>
              <a:srgbClr val="DCE8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Oval 24"/>
          <p:cNvSpPr/>
          <p:nvPr/>
        </p:nvSpPr>
        <p:spPr>
          <a:xfrm>
            <a:off x="6519671" y="4480559"/>
            <a:ext cx="502921" cy="502921"/>
          </a:xfrm>
          <a:prstGeom prst="ellipse">
            <a:avLst/>
          </a:prstGeom>
          <a:solidFill>
            <a:srgbClr val="29787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5"/>
          <p:cNvSpPr txBox="1"/>
          <p:nvPr/>
        </p:nvSpPr>
        <p:spPr>
          <a:xfrm>
            <a:off x="6680440" y="4562855"/>
            <a:ext cx="18138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7" name="TextBox 26"/>
          <p:cNvSpPr txBox="1"/>
          <p:nvPr/>
        </p:nvSpPr>
        <p:spPr>
          <a:xfrm>
            <a:off x="7223760" y="4453128"/>
            <a:ext cx="3632756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700">
                <a:solidFill>
                  <a:srgbClr val="283034"/>
                </a:solidFill>
              </a:defRPr>
            </a:lvl1pPr>
          </a:lstStyle>
          <a:p>
            <a:pPr/>
            <a:r>
              <a:t>Do the conclusions match the evidence?</a:t>
            </a:r>
          </a:p>
        </p:txBody>
      </p:sp>
      <p:sp>
        <p:nvSpPr>
          <p:cNvPr id="198" name="Rectangle 27"/>
          <p:cNvSpPr/>
          <p:nvPr/>
        </p:nvSpPr>
        <p:spPr>
          <a:xfrm>
            <a:off x="640079" y="6473952"/>
            <a:ext cx="10927082" cy="18289"/>
          </a:xfrm>
          <a:prstGeom prst="rect">
            <a:avLst/>
          </a:prstGeom>
          <a:solidFill>
            <a:srgbClr val="DCE8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28"/>
          <p:cNvSpPr txBox="1"/>
          <p:nvPr/>
        </p:nvSpPr>
        <p:spPr>
          <a:xfrm>
            <a:off x="11313648" y="6510528"/>
            <a:ext cx="16207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sz="900">
                <a:solidFill>
                  <a:srgbClr val="788287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C374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TextBox 2"/>
          <p:cNvSpPr txBox="1"/>
          <p:nvPr/>
        </p:nvSpPr>
        <p:spPr>
          <a:xfrm>
            <a:off x="960119" y="1097280"/>
            <a:ext cx="3024906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Key Takeaway</a:t>
            </a:r>
          </a:p>
        </p:txBody>
      </p:sp>
      <p:sp>
        <p:nvSpPr>
          <p:cNvPr id="203" name="TextBox 3"/>
          <p:cNvSpPr txBox="1"/>
          <p:nvPr/>
        </p:nvSpPr>
        <p:spPr>
          <a:xfrm>
            <a:off x="960120" y="2240279"/>
            <a:ext cx="11292425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800"/>
              </a:spcBef>
              <a:defRPr sz="2700">
                <a:solidFill>
                  <a:srgbClr val="E1F0F2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Good research is clear, systematic, ethical, transparent and supported by evidence.</a:t>
            </a:r>
          </a:p>
          <a:p>
            <a:pPr>
              <a:defRPr sz="2000">
                <a:solidFill>
                  <a:srgbClr val="C8DCE0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Its conclusions should be useful, understandable and limited to what the data can actually show.</a:t>
            </a:r>
          </a:p>
        </p:txBody>
      </p:sp>
      <p:sp>
        <p:nvSpPr>
          <p:cNvPr id="204" name="TextBox 4"/>
          <p:cNvSpPr txBox="1"/>
          <p:nvPr/>
        </p:nvSpPr>
        <p:spPr>
          <a:xfrm>
            <a:off x="960119" y="5349240"/>
            <a:ext cx="1082835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29787D"/>
                </a:solidFill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