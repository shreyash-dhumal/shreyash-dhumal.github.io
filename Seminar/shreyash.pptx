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9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65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5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6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2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2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2" cy="80486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8" y="6414761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/>
          <p:cNvSpPr txBox="1"/>
          <p:nvPr/>
        </p:nvSpPr>
        <p:spPr>
          <a:xfrm>
            <a:off x="822958" y="1691640"/>
            <a:ext cx="1060704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34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Research Thinking in Mathematics</a:t>
            </a:r>
          </a:p>
        </p:txBody>
      </p:sp>
      <p:sp>
        <p:nvSpPr>
          <p:cNvPr id="95" name="TextBox 2"/>
          <p:cNvSpPr txBox="1"/>
          <p:nvPr/>
        </p:nvSpPr>
        <p:spPr>
          <a:xfrm>
            <a:off x="1234438" y="2761489"/>
            <a:ext cx="9692644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0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From problems to structures, conjectures, and proofs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4251959" y="5257799"/>
            <a:ext cx="3657601" cy="29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300">
                <a:solidFill>
                  <a:srgbClr val="2F5E9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 journey through one problem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 txBox="1"/>
          <p:nvPr/>
        </p:nvSpPr>
        <p:spPr>
          <a:xfrm>
            <a:off x="822958" y="1417319"/>
            <a:ext cx="10515604" cy="1031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b="1" sz="31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When mathematicians encounter an unsolved problem,</a:t>
            </a:r>
            <a:br/>
            <a:r>
              <a:t>what do they do?</a:t>
            </a:r>
          </a:p>
        </p:txBody>
      </p:sp>
      <p:sp>
        <p:nvSpPr>
          <p:cNvPr id="100" name="TextBox 2"/>
          <p:cNvSpPr txBox="1"/>
          <p:nvPr/>
        </p:nvSpPr>
        <p:spPr>
          <a:xfrm>
            <a:off x="2011678" y="3977638"/>
            <a:ext cx="8229604" cy="383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900">
                <a:solidFill>
                  <a:srgbClr val="2F5E9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Problems  →  Structures  →  Conjectures  →  Proofs</a:t>
            </a:r>
          </a:p>
        </p:txBody>
      </p:sp>
      <p:sp>
        <p:nvSpPr>
          <p:cNvPr id="101" name="TextBox 3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"/>
          <p:cNvSpPr txBox="1"/>
          <p:nvPr/>
        </p:nvSpPr>
        <p:spPr>
          <a:xfrm>
            <a:off x="704087" y="438913"/>
            <a:ext cx="10789922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Can we cross every bridge exactly once?</a:t>
            </a:r>
          </a:p>
        </p:txBody>
      </p:sp>
      <p:sp>
        <p:nvSpPr>
          <p:cNvPr id="104" name="TextBox 2"/>
          <p:cNvSpPr txBox="1"/>
          <p:nvPr/>
        </p:nvSpPr>
        <p:spPr>
          <a:xfrm>
            <a:off x="758951" y="1353312"/>
            <a:ext cx="4663442" cy="65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Start anywhere. Cross every bridge exactly once.</a:t>
            </a:r>
          </a:p>
        </p:txBody>
      </p:sp>
      <p:sp>
        <p:nvSpPr>
          <p:cNvPr id="105" name="TextBox 3"/>
          <p:cNvSpPr txBox="1"/>
          <p:nvPr/>
        </p:nvSpPr>
        <p:spPr>
          <a:xfrm>
            <a:off x="758951" y="1847089"/>
            <a:ext cx="4480562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You may finish anywhere.</a:t>
            </a:r>
          </a:p>
        </p:txBody>
      </p:sp>
      <p:sp>
        <p:nvSpPr>
          <p:cNvPr id="106" name="TextBox 16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3</a:t>
            </a:r>
          </a:p>
        </p:txBody>
      </p:sp>
      <p:pic>
        <p:nvPicPr>
          <p:cNvPr id="107" name="Picture 17" descr="Picture 1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434930" y="2331720"/>
            <a:ext cx="7319093" cy="41148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"/>
          <p:cNvSpPr txBox="1"/>
          <p:nvPr/>
        </p:nvSpPr>
        <p:spPr>
          <a:xfrm>
            <a:off x="704087" y="438913"/>
            <a:ext cx="10789922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Let's try it.</a:t>
            </a:r>
          </a:p>
        </p:txBody>
      </p:sp>
      <p:sp>
        <p:nvSpPr>
          <p:cNvPr id="110" name="TextBox 2"/>
          <p:cNvSpPr txBox="1"/>
          <p:nvPr/>
        </p:nvSpPr>
        <p:spPr>
          <a:xfrm>
            <a:off x="722374" y="987553"/>
            <a:ext cx="10607044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Experiment before theory</a:t>
            </a:r>
          </a:p>
        </p:txBody>
      </p:sp>
      <p:sp>
        <p:nvSpPr>
          <p:cNvPr id="111" name="TextBox 3"/>
          <p:cNvSpPr txBox="1"/>
          <p:nvPr/>
        </p:nvSpPr>
        <p:spPr>
          <a:xfrm>
            <a:off x="777239" y="1417320"/>
            <a:ext cx="4206242" cy="65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Try different starting points</a:t>
            </a:r>
            <a:br/>
            <a:r>
              <a:t>and different routes.</a:t>
            </a:r>
          </a:p>
        </p:txBody>
      </p:sp>
      <p:sp>
        <p:nvSpPr>
          <p:cNvPr id="112" name="TextBox 14"/>
          <p:cNvSpPr txBox="1"/>
          <p:nvPr/>
        </p:nvSpPr>
        <p:spPr>
          <a:xfrm>
            <a:off x="7207939" y="5572567"/>
            <a:ext cx="4480562" cy="421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2200">
                <a:solidFill>
                  <a:srgbClr val="B8484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We keep getting stuck.</a:t>
            </a:r>
          </a:p>
        </p:txBody>
      </p:sp>
      <p:sp>
        <p:nvSpPr>
          <p:cNvPr id="113" name="TextBox 15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4</a:t>
            </a:r>
          </a:p>
        </p:txBody>
      </p:sp>
      <p:pic>
        <p:nvPicPr>
          <p:cNvPr id="114" name="Picture 16" descr="Picture 1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02919" y="2240278"/>
            <a:ext cx="5440682" cy="3627122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Picture 17" descr="Picture 1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196265" y="1715418"/>
            <a:ext cx="5440681" cy="362712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1"/>
          <p:cNvSpPr txBox="1"/>
          <p:nvPr/>
        </p:nvSpPr>
        <p:spPr>
          <a:xfrm>
            <a:off x="694689" y="644904"/>
            <a:ext cx="10789922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What information actually matters?</a:t>
            </a:r>
          </a:p>
        </p:txBody>
      </p:sp>
      <p:sp>
        <p:nvSpPr>
          <p:cNvPr id="118" name="TextBox 2"/>
          <p:cNvSpPr txBox="1"/>
          <p:nvPr/>
        </p:nvSpPr>
        <p:spPr>
          <a:xfrm>
            <a:off x="696008" y="1515408"/>
            <a:ext cx="10607041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Strip away the details</a:t>
            </a:r>
          </a:p>
        </p:txBody>
      </p:sp>
      <p:sp>
        <p:nvSpPr>
          <p:cNvPr id="119" name="TextBox 3"/>
          <p:cNvSpPr txBox="1"/>
          <p:nvPr/>
        </p:nvSpPr>
        <p:spPr>
          <a:xfrm>
            <a:off x="674242" y="2653275"/>
            <a:ext cx="4069083" cy="1209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Does the exact shape of the land matter?</a:t>
            </a:r>
            <a:br/>
          </a:p>
          <a:p>
            <a: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Does the length of a bridge matter?</a:t>
            </a:r>
          </a:p>
        </p:txBody>
      </p:sp>
      <p:sp>
        <p:nvSpPr>
          <p:cNvPr id="120" name="TextBox 4"/>
          <p:cNvSpPr txBox="1"/>
          <p:nvPr/>
        </p:nvSpPr>
        <p:spPr>
          <a:xfrm>
            <a:off x="697102" y="4121278"/>
            <a:ext cx="4023362" cy="65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What matters is only:</a:t>
            </a:r>
            <a:br/>
            <a:r>
              <a:t>who is connected to whom.</a:t>
            </a:r>
          </a:p>
        </p:txBody>
      </p:sp>
      <p:sp>
        <p:nvSpPr>
          <p:cNvPr id="121" name="TextBox 18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 txBox="1"/>
          <p:nvPr/>
        </p:nvSpPr>
        <p:spPr>
          <a:xfrm>
            <a:off x="704087" y="438913"/>
            <a:ext cx="10789922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Can we represent the problem more simply?</a:t>
            </a:r>
          </a:p>
        </p:txBody>
      </p:sp>
      <p:sp>
        <p:nvSpPr>
          <p:cNvPr id="124" name="TextBox 2"/>
          <p:cNvSpPr txBox="1"/>
          <p:nvPr/>
        </p:nvSpPr>
        <p:spPr>
          <a:xfrm>
            <a:off x="795526" y="1417320"/>
            <a:ext cx="3383283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000">
                <a:solidFill>
                  <a:srgbClr val="2F5E9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 new object appears.</a:t>
            </a:r>
          </a:p>
        </p:txBody>
      </p:sp>
      <p:sp>
        <p:nvSpPr>
          <p:cNvPr id="125" name="TextBox 3"/>
          <p:cNvSpPr txBox="1"/>
          <p:nvPr/>
        </p:nvSpPr>
        <p:spPr>
          <a:xfrm>
            <a:off x="795526" y="2057400"/>
            <a:ext cx="3383283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vertex = a location</a:t>
            </a:r>
          </a:p>
        </p:txBody>
      </p:sp>
      <p:sp>
        <p:nvSpPr>
          <p:cNvPr id="126" name="TextBox 4"/>
          <p:cNvSpPr txBox="1"/>
          <p:nvPr/>
        </p:nvSpPr>
        <p:spPr>
          <a:xfrm>
            <a:off x="795526" y="2514600"/>
            <a:ext cx="3383283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edge = a connection</a:t>
            </a:r>
          </a:p>
        </p:txBody>
      </p:sp>
      <p:sp>
        <p:nvSpPr>
          <p:cNvPr id="127" name="TextBox 16"/>
          <p:cNvSpPr txBox="1"/>
          <p:nvPr/>
        </p:nvSpPr>
        <p:spPr>
          <a:xfrm>
            <a:off x="5623559" y="5486399"/>
            <a:ext cx="3931921" cy="297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3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 geography problem → a graph problem</a:t>
            </a:r>
          </a:p>
        </p:txBody>
      </p:sp>
      <p:sp>
        <p:nvSpPr>
          <p:cNvPr id="128" name="TextBox 17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6</a:t>
            </a:r>
          </a:p>
        </p:txBody>
      </p:sp>
      <p:pic>
        <p:nvPicPr>
          <p:cNvPr id="129" name="Picture 18" descr="Picture 1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48626" y="1930761"/>
            <a:ext cx="11094443" cy="443665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 txBox="1"/>
          <p:nvPr/>
        </p:nvSpPr>
        <p:spPr>
          <a:xfrm>
            <a:off x="704087" y="438913"/>
            <a:ext cx="10789922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What happens when we enter a region?</a:t>
            </a:r>
          </a:p>
        </p:txBody>
      </p:sp>
      <p:sp>
        <p:nvSpPr>
          <p:cNvPr id="132" name="TextBox 3"/>
          <p:cNvSpPr txBox="1"/>
          <p:nvPr/>
        </p:nvSpPr>
        <p:spPr>
          <a:xfrm>
            <a:off x="777238" y="2468879"/>
            <a:ext cx="4023362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000">
                <a:solidFill>
                  <a:srgbClr val="2F5E9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Crossings come in pairs.</a:t>
            </a:r>
          </a:p>
        </p:txBody>
      </p:sp>
      <p:sp>
        <p:nvSpPr>
          <p:cNvPr id="133" name="TextBox 13"/>
          <p:cNvSpPr txBox="1"/>
          <p:nvPr/>
        </p:nvSpPr>
        <p:spPr>
          <a:xfrm>
            <a:off x="7178039" y="5486399"/>
            <a:ext cx="1097282" cy="29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300">
                <a:solidFill>
                  <a:srgbClr val="2F5E9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ENTER</a:t>
            </a:r>
          </a:p>
        </p:txBody>
      </p:sp>
      <p:sp>
        <p:nvSpPr>
          <p:cNvPr id="134" name="TextBox 14"/>
          <p:cNvSpPr txBox="1"/>
          <p:nvPr/>
        </p:nvSpPr>
        <p:spPr>
          <a:xfrm>
            <a:off x="8503919" y="5486399"/>
            <a:ext cx="1097281" cy="29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300">
                <a:solidFill>
                  <a:srgbClr val="B8484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LEAVE</a:t>
            </a:r>
          </a:p>
        </p:txBody>
      </p:sp>
      <p:sp>
        <p:nvSpPr>
          <p:cNvPr id="135" name="TextBox 16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7</a:t>
            </a:r>
          </a:p>
        </p:txBody>
      </p:sp>
      <p:pic>
        <p:nvPicPr>
          <p:cNvPr id="136" name="Picture 17" descr="Picture 1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20542" y="1405258"/>
            <a:ext cx="10184132" cy="452628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"/>
          <p:cNvSpPr txBox="1"/>
          <p:nvPr/>
        </p:nvSpPr>
        <p:spPr>
          <a:xfrm>
            <a:off x="694689" y="580531"/>
            <a:ext cx="10789922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What about the beginning and the end?</a:t>
            </a:r>
          </a:p>
        </p:txBody>
      </p:sp>
      <p:sp>
        <p:nvSpPr>
          <p:cNvPr id="139" name="TextBox 13"/>
          <p:cNvSpPr txBox="1"/>
          <p:nvPr/>
        </p:nvSpPr>
        <p:spPr>
          <a:xfrm>
            <a:off x="777238" y="1560258"/>
            <a:ext cx="3474722" cy="929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Only the start and end</a:t>
            </a:r>
            <a:br/>
            <a:r>
              <a:t>can have an unmatched crossing.</a:t>
            </a:r>
          </a:p>
        </p:txBody>
      </p:sp>
      <p:sp>
        <p:nvSpPr>
          <p:cNvPr id="140" name="TextBox 14"/>
          <p:cNvSpPr txBox="1"/>
          <p:nvPr/>
        </p:nvSpPr>
        <p:spPr>
          <a:xfrm>
            <a:off x="777238" y="2743200"/>
            <a:ext cx="3474722" cy="65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Intermediate vertices → even degree</a:t>
            </a:r>
          </a:p>
        </p:txBody>
      </p:sp>
      <p:sp>
        <p:nvSpPr>
          <p:cNvPr id="141" name="TextBox 15"/>
          <p:cNvSpPr txBox="1"/>
          <p:nvPr/>
        </p:nvSpPr>
        <p:spPr>
          <a:xfrm>
            <a:off x="777238" y="3839667"/>
            <a:ext cx="3474722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000">
                <a:solidFill>
                  <a:srgbClr val="B8484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Therefore → at most 2 odd-degree vertices</a:t>
            </a:r>
          </a:p>
        </p:txBody>
      </p:sp>
      <p:sp>
        <p:nvSpPr>
          <p:cNvPr id="142" name="TextBox 16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Box 1"/>
          <p:cNvSpPr txBox="1"/>
          <p:nvPr/>
        </p:nvSpPr>
        <p:spPr>
          <a:xfrm>
            <a:off x="704087" y="438913"/>
            <a:ext cx="10789922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Does Königsberg satisfy our condition?</a:t>
            </a:r>
          </a:p>
        </p:txBody>
      </p:sp>
      <p:sp>
        <p:nvSpPr>
          <p:cNvPr id="145" name="TextBox 13"/>
          <p:cNvSpPr txBox="1"/>
          <p:nvPr/>
        </p:nvSpPr>
        <p:spPr>
          <a:xfrm>
            <a:off x="6099047" y="1207008"/>
            <a:ext cx="420626" cy="29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300">
                <a:solidFill>
                  <a:srgbClr val="B8484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6" name="TextBox 14"/>
          <p:cNvSpPr txBox="1"/>
          <p:nvPr/>
        </p:nvSpPr>
        <p:spPr>
          <a:xfrm>
            <a:off x="9116566" y="1207008"/>
            <a:ext cx="420626" cy="29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300">
                <a:solidFill>
                  <a:srgbClr val="B8484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7" name="TextBox 15"/>
          <p:cNvSpPr txBox="1"/>
          <p:nvPr/>
        </p:nvSpPr>
        <p:spPr>
          <a:xfrm>
            <a:off x="6099047" y="3950209"/>
            <a:ext cx="420626" cy="29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300">
                <a:solidFill>
                  <a:srgbClr val="B8484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8" name="TextBox 16"/>
          <p:cNvSpPr txBox="1"/>
          <p:nvPr/>
        </p:nvSpPr>
        <p:spPr>
          <a:xfrm>
            <a:off x="9116566" y="3950209"/>
            <a:ext cx="420626" cy="29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300">
                <a:solidFill>
                  <a:srgbClr val="B8484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49" name="TextBox 17"/>
          <p:cNvSpPr txBox="1"/>
          <p:nvPr/>
        </p:nvSpPr>
        <p:spPr>
          <a:xfrm>
            <a:off x="685798" y="1600200"/>
            <a:ext cx="3840483" cy="472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500">
                <a:solidFill>
                  <a:srgbClr val="B8484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All four vertices are odd.</a:t>
            </a:r>
          </a:p>
        </p:txBody>
      </p:sp>
      <p:sp>
        <p:nvSpPr>
          <p:cNvPr id="150" name="TextBox 18"/>
          <p:cNvSpPr txBox="1"/>
          <p:nvPr/>
        </p:nvSpPr>
        <p:spPr>
          <a:xfrm>
            <a:off x="685798" y="2423161"/>
            <a:ext cx="3931922" cy="65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But a valid journey can have</a:t>
            </a:r>
            <a:br/>
            <a:r>
              <a:t>at most two odd-degree vertices.</a:t>
            </a:r>
          </a:p>
        </p:txBody>
      </p:sp>
      <p:sp>
        <p:nvSpPr>
          <p:cNvPr id="151" name="TextBox 19"/>
          <p:cNvSpPr txBox="1"/>
          <p:nvPr/>
        </p:nvSpPr>
        <p:spPr>
          <a:xfrm>
            <a:off x="685799" y="3886200"/>
            <a:ext cx="3749042" cy="751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So the journey is impossible.</a:t>
            </a:r>
          </a:p>
        </p:txBody>
      </p:sp>
      <p:sp>
        <p:nvSpPr>
          <p:cNvPr id="152" name="TextBox 20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9</a:t>
            </a:r>
          </a:p>
        </p:txBody>
      </p:sp>
      <p:pic>
        <p:nvPicPr>
          <p:cNvPr id="153" name="Picture 21" descr="Picture 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156670" y="1200150"/>
            <a:ext cx="4839495" cy="44577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Box 1"/>
          <p:cNvSpPr txBox="1"/>
          <p:nvPr/>
        </p:nvSpPr>
        <p:spPr>
          <a:xfrm>
            <a:off x="704087" y="438913"/>
            <a:ext cx="10789922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We solved more than one problem.</a:t>
            </a:r>
          </a:p>
        </p:txBody>
      </p:sp>
      <p:sp>
        <p:nvSpPr>
          <p:cNvPr id="156" name="TextBox 2"/>
          <p:cNvSpPr txBox="1"/>
          <p:nvPr/>
        </p:nvSpPr>
        <p:spPr>
          <a:xfrm>
            <a:off x="722374" y="987553"/>
            <a:ext cx="10607044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Generalize</a:t>
            </a:r>
          </a:p>
        </p:txBody>
      </p:sp>
      <p:sp>
        <p:nvSpPr>
          <p:cNvPr id="157" name="TextBox 3"/>
          <p:cNvSpPr txBox="1"/>
          <p:nvPr/>
        </p:nvSpPr>
        <p:spPr>
          <a:xfrm>
            <a:off x="687117" y="1467499"/>
            <a:ext cx="4023362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0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The argument wasn't really about Königsberg.</a:t>
            </a:r>
          </a:p>
        </p:txBody>
      </p:sp>
      <p:sp>
        <p:nvSpPr>
          <p:cNvPr id="158" name="Connector 4"/>
          <p:cNvSpPr/>
          <p:nvPr/>
        </p:nvSpPr>
        <p:spPr>
          <a:xfrm>
            <a:off x="5120640" y="2468878"/>
            <a:ext cx="1188721" cy="2"/>
          </a:xfrm>
          <a:prstGeom prst="line">
            <a:avLst/>
          </a:prstGeom>
          <a:ln w="25400">
            <a:solidFill>
              <a:srgbClr val="20242A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9" name="Connector 5"/>
          <p:cNvSpPr/>
          <p:nvPr/>
        </p:nvSpPr>
        <p:spPr>
          <a:xfrm flipH="1">
            <a:off x="5714999" y="2468878"/>
            <a:ext cx="594361" cy="1005840"/>
          </a:xfrm>
          <a:prstGeom prst="line">
            <a:avLst/>
          </a:prstGeom>
          <a:ln w="25400">
            <a:solidFill>
              <a:srgbClr val="20242A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0" name="Connector 6"/>
          <p:cNvSpPr/>
          <p:nvPr/>
        </p:nvSpPr>
        <p:spPr>
          <a:xfrm flipH="1" flipV="1">
            <a:off x="5120640" y="2468880"/>
            <a:ext cx="594362" cy="1005840"/>
          </a:xfrm>
          <a:prstGeom prst="line">
            <a:avLst/>
          </a:prstGeom>
          <a:ln w="25400">
            <a:solidFill>
              <a:srgbClr val="20242A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1" name="Oval 7"/>
          <p:cNvSpPr/>
          <p:nvPr/>
        </p:nvSpPr>
        <p:spPr>
          <a:xfrm>
            <a:off x="5020054" y="2368294"/>
            <a:ext cx="201171" cy="201171"/>
          </a:xfrm>
          <a:prstGeom prst="ellipse">
            <a:avLst/>
          </a:prstGeom>
          <a:solidFill>
            <a:srgbClr val="2F5E9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2" name="Oval 8"/>
          <p:cNvSpPr/>
          <p:nvPr/>
        </p:nvSpPr>
        <p:spPr>
          <a:xfrm>
            <a:off x="6208774" y="2368294"/>
            <a:ext cx="201171" cy="201171"/>
          </a:xfrm>
          <a:prstGeom prst="ellipse">
            <a:avLst/>
          </a:prstGeom>
          <a:solidFill>
            <a:srgbClr val="2F5E9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3" name="Oval 9"/>
          <p:cNvSpPr/>
          <p:nvPr/>
        </p:nvSpPr>
        <p:spPr>
          <a:xfrm>
            <a:off x="5614415" y="3374135"/>
            <a:ext cx="201171" cy="201171"/>
          </a:xfrm>
          <a:prstGeom prst="ellipse">
            <a:avLst/>
          </a:prstGeom>
          <a:solidFill>
            <a:srgbClr val="2F5E9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4" name="TextBox 10"/>
          <p:cNvSpPr txBox="1"/>
          <p:nvPr/>
        </p:nvSpPr>
        <p:spPr>
          <a:xfrm>
            <a:off x="4983479" y="3886199"/>
            <a:ext cx="1554482" cy="29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300">
                <a:solidFill>
                  <a:srgbClr val="2F5E9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 odd</a:t>
            </a:r>
          </a:p>
        </p:txBody>
      </p:sp>
      <p:sp>
        <p:nvSpPr>
          <p:cNvPr id="165" name="Connector 11"/>
          <p:cNvSpPr/>
          <p:nvPr/>
        </p:nvSpPr>
        <p:spPr>
          <a:xfrm>
            <a:off x="7360918" y="2468878"/>
            <a:ext cx="1188722" cy="2"/>
          </a:xfrm>
          <a:prstGeom prst="line">
            <a:avLst/>
          </a:prstGeom>
          <a:ln w="25400">
            <a:solidFill>
              <a:srgbClr val="20242A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6" name="Connector 12"/>
          <p:cNvSpPr/>
          <p:nvPr/>
        </p:nvSpPr>
        <p:spPr>
          <a:xfrm flipH="1">
            <a:off x="7955280" y="2468878"/>
            <a:ext cx="594362" cy="1005840"/>
          </a:xfrm>
          <a:prstGeom prst="line">
            <a:avLst/>
          </a:prstGeom>
          <a:ln w="25400">
            <a:solidFill>
              <a:srgbClr val="20242A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" name="Oval 13"/>
          <p:cNvSpPr/>
          <p:nvPr/>
        </p:nvSpPr>
        <p:spPr>
          <a:xfrm>
            <a:off x="7260335" y="2368294"/>
            <a:ext cx="201171" cy="201171"/>
          </a:xfrm>
          <a:prstGeom prst="ellipse">
            <a:avLst/>
          </a:prstGeom>
          <a:solidFill>
            <a:srgbClr val="2F5E9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8" name="Oval 14"/>
          <p:cNvSpPr/>
          <p:nvPr/>
        </p:nvSpPr>
        <p:spPr>
          <a:xfrm>
            <a:off x="8449056" y="2368294"/>
            <a:ext cx="201171" cy="201171"/>
          </a:xfrm>
          <a:prstGeom prst="ellipse">
            <a:avLst/>
          </a:prstGeom>
          <a:solidFill>
            <a:srgbClr val="2F5E9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9" name="Oval 15"/>
          <p:cNvSpPr/>
          <p:nvPr/>
        </p:nvSpPr>
        <p:spPr>
          <a:xfrm>
            <a:off x="7854694" y="3374135"/>
            <a:ext cx="201171" cy="201171"/>
          </a:xfrm>
          <a:prstGeom prst="ellipse">
            <a:avLst/>
          </a:prstGeom>
          <a:solidFill>
            <a:srgbClr val="2F5E9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0" name="TextBox 16"/>
          <p:cNvSpPr txBox="1"/>
          <p:nvPr/>
        </p:nvSpPr>
        <p:spPr>
          <a:xfrm>
            <a:off x="7223759" y="3886199"/>
            <a:ext cx="1554482" cy="29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300">
                <a:solidFill>
                  <a:srgbClr val="2F5E9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2 odd</a:t>
            </a:r>
          </a:p>
        </p:txBody>
      </p:sp>
      <p:sp>
        <p:nvSpPr>
          <p:cNvPr id="171" name="Connector 17"/>
          <p:cNvSpPr/>
          <p:nvPr/>
        </p:nvSpPr>
        <p:spPr>
          <a:xfrm>
            <a:off x="9601199" y="2468878"/>
            <a:ext cx="1188722" cy="2"/>
          </a:xfrm>
          <a:prstGeom prst="line">
            <a:avLst/>
          </a:prstGeom>
          <a:ln w="25400">
            <a:solidFill>
              <a:srgbClr val="20242A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2" name="Connector 18"/>
          <p:cNvSpPr/>
          <p:nvPr/>
        </p:nvSpPr>
        <p:spPr>
          <a:xfrm>
            <a:off x="10789918" y="2468878"/>
            <a:ext cx="2" cy="1005840"/>
          </a:xfrm>
          <a:prstGeom prst="line">
            <a:avLst/>
          </a:prstGeom>
          <a:ln w="25400">
            <a:solidFill>
              <a:srgbClr val="20242A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3" name="Connector 19"/>
          <p:cNvSpPr/>
          <p:nvPr/>
        </p:nvSpPr>
        <p:spPr>
          <a:xfrm flipH="1">
            <a:off x="9601199" y="3474720"/>
            <a:ext cx="1188722" cy="2"/>
          </a:xfrm>
          <a:prstGeom prst="line">
            <a:avLst/>
          </a:prstGeom>
          <a:ln w="25400">
            <a:solidFill>
              <a:srgbClr val="20242A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4" name="Connector 20"/>
          <p:cNvSpPr/>
          <p:nvPr/>
        </p:nvSpPr>
        <p:spPr>
          <a:xfrm flipV="1">
            <a:off x="9601200" y="2468880"/>
            <a:ext cx="0" cy="1005840"/>
          </a:xfrm>
          <a:prstGeom prst="line">
            <a:avLst/>
          </a:prstGeom>
          <a:ln w="25400">
            <a:solidFill>
              <a:srgbClr val="20242A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75" name="Oval 21"/>
          <p:cNvSpPr/>
          <p:nvPr/>
        </p:nvSpPr>
        <p:spPr>
          <a:xfrm>
            <a:off x="9500616" y="2368294"/>
            <a:ext cx="201171" cy="201171"/>
          </a:xfrm>
          <a:prstGeom prst="ellipse">
            <a:avLst/>
          </a:prstGeom>
          <a:solidFill>
            <a:srgbClr val="2F5E9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6" name="Oval 22"/>
          <p:cNvSpPr/>
          <p:nvPr/>
        </p:nvSpPr>
        <p:spPr>
          <a:xfrm>
            <a:off x="10689335" y="2368294"/>
            <a:ext cx="201171" cy="201171"/>
          </a:xfrm>
          <a:prstGeom prst="ellipse">
            <a:avLst/>
          </a:prstGeom>
          <a:solidFill>
            <a:srgbClr val="2F5E9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7" name="Oval 23"/>
          <p:cNvSpPr/>
          <p:nvPr/>
        </p:nvSpPr>
        <p:spPr>
          <a:xfrm>
            <a:off x="9500616" y="3374135"/>
            <a:ext cx="201171" cy="201171"/>
          </a:xfrm>
          <a:prstGeom prst="ellipse">
            <a:avLst/>
          </a:prstGeom>
          <a:solidFill>
            <a:srgbClr val="2F5E9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8" name="Oval 24"/>
          <p:cNvSpPr/>
          <p:nvPr/>
        </p:nvSpPr>
        <p:spPr>
          <a:xfrm>
            <a:off x="10689335" y="3374135"/>
            <a:ext cx="201171" cy="201171"/>
          </a:xfrm>
          <a:prstGeom prst="ellipse">
            <a:avLst/>
          </a:prstGeom>
          <a:solidFill>
            <a:srgbClr val="2F5E9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9" name="TextBox 25"/>
          <p:cNvSpPr txBox="1"/>
          <p:nvPr/>
        </p:nvSpPr>
        <p:spPr>
          <a:xfrm>
            <a:off x="9464039" y="3886199"/>
            <a:ext cx="1554482" cy="29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300">
                <a:solidFill>
                  <a:srgbClr val="2F5E9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 odd</a:t>
            </a:r>
          </a:p>
        </p:txBody>
      </p:sp>
      <p:sp>
        <p:nvSpPr>
          <p:cNvPr id="180" name="TextBox 26"/>
          <p:cNvSpPr txBox="1"/>
          <p:nvPr/>
        </p:nvSpPr>
        <p:spPr>
          <a:xfrm>
            <a:off x="5120638" y="4983480"/>
            <a:ext cx="6217923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20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 general structural property emerges.</a:t>
            </a:r>
          </a:p>
        </p:txBody>
      </p:sp>
      <p:sp>
        <p:nvSpPr>
          <p:cNvPr id="181" name="TextBox 27"/>
          <p:cNvSpPr txBox="1"/>
          <p:nvPr/>
        </p:nvSpPr>
        <p:spPr>
          <a:xfrm>
            <a:off x="5120638" y="5532121"/>
            <a:ext cx="6217923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0 or 2 odd-degree vertices  →  Eulerian trail</a:t>
            </a:r>
          </a:p>
        </p:txBody>
      </p:sp>
      <p:sp>
        <p:nvSpPr>
          <p:cNvPr id="182" name="TextBox 28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10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1"/>
          <p:cNvSpPr txBox="1"/>
          <p:nvPr/>
        </p:nvSpPr>
        <p:spPr>
          <a:xfrm>
            <a:off x="704087" y="438913"/>
            <a:ext cx="10789922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What just happened?</a:t>
            </a:r>
          </a:p>
        </p:txBody>
      </p:sp>
      <p:grpSp>
        <p:nvGrpSpPr>
          <p:cNvPr id="187" name="Rounded Rectangle 2"/>
          <p:cNvGrpSpPr/>
          <p:nvPr/>
        </p:nvGrpSpPr>
        <p:grpSpPr>
          <a:xfrm>
            <a:off x="868680" y="2788920"/>
            <a:ext cx="1508763" cy="713235"/>
            <a:chOff x="0" y="0"/>
            <a:chExt cx="1508761" cy="713233"/>
          </a:xfrm>
        </p:grpSpPr>
        <p:sp>
          <p:nvSpPr>
            <p:cNvPr id="185" name="Rounded Rectangle"/>
            <p:cNvSpPr/>
            <p:nvPr/>
          </p:nvSpPr>
          <p:spPr>
            <a:xfrm>
              <a:off x="0" y="0"/>
              <a:ext cx="1508762" cy="71323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25400" cap="flat">
              <a:solidFill>
                <a:srgbClr val="2F5E97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86" name="Problem"/>
            <p:cNvSpPr txBox="1"/>
            <p:nvPr/>
          </p:nvSpPr>
          <p:spPr>
            <a:xfrm>
              <a:off x="93236" y="171195"/>
              <a:ext cx="1322289" cy="3708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20242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Problem</a:t>
              </a:r>
            </a:p>
          </p:txBody>
        </p:sp>
      </p:grpSp>
      <p:sp>
        <p:nvSpPr>
          <p:cNvPr id="188" name="Connector 3"/>
          <p:cNvSpPr/>
          <p:nvPr/>
        </p:nvSpPr>
        <p:spPr>
          <a:xfrm>
            <a:off x="2377438" y="3145534"/>
            <a:ext cx="320043" cy="2"/>
          </a:xfrm>
          <a:prstGeom prst="line">
            <a:avLst/>
          </a:prstGeom>
          <a:ln w="19050">
            <a:solidFill>
              <a:srgbClr val="696F78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91" name="Rounded Rectangle 4"/>
          <p:cNvGrpSpPr/>
          <p:nvPr/>
        </p:nvGrpSpPr>
        <p:grpSpPr>
          <a:xfrm>
            <a:off x="2715767" y="2788920"/>
            <a:ext cx="1508762" cy="713235"/>
            <a:chOff x="0" y="0"/>
            <a:chExt cx="1508761" cy="713233"/>
          </a:xfrm>
        </p:grpSpPr>
        <p:sp>
          <p:nvSpPr>
            <p:cNvPr id="189" name="Rounded Rectangle"/>
            <p:cNvSpPr/>
            <p:nvPr/>
          </p:nvSpPr>
          <p:spPr>
            <a:xfrm>
              <a:off x="0" y="0"/>
              <a:ext cx="1508762" cy="71323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25400" cap="flat">
              <a:solidFill>
                <a:srgbClr val="20242A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90" name="Experiment"/>
            <p:cNvSpPr txBox="1"/>
            <p:nvPr/>
          </p:nvSpPr>
          <p:spPr>
            <a:xfrm>
              <a:off x="93236" y="171195"/>
              <a:ext cx="1322289" cy="3708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20242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Experiment</a:t>
              </a:r>
            </a:p>
          </p:txBody>
        </p:sp>
      </p:grpSp>
      <p:sp>
        <p:nvSpPr>
          <p:cNvPr id="192" name="Connector 5"/>
          <p:cNvSpPr/>
          <p:nvPr/>
        </p:nvSpPr>
        <p:spPr>
          <a:xfrm>
            <a:off x="4224527" y="3145534"/>
            <a:ext cx="320043" cy="2"/>
          </a:xfrm>
          <a:prstGeom prst="line">
            <a:avLst/>
          </a:prstGeom>
          <a:ln w="19050">
            <a:solidFill>
              <a:srgbClr val="696F78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95" name="Rounded Rectangle 6"/>
          <p:cNvGrpSpPr/>
          <p:nvPr/>
        </p:nvGrpSpPr>
        <p:grpSpPr>
          <a:xfrm>
            <a:off x="4562854" y="2788920"/>
            <a:ext cx="1508764" cy="713235"/>
            <a:chOff x="0" y="0"/>
            <a:chExt cx="1508762" cy="713233"/>
          </a:xfrm>
        </p:grpSpPr>
        <p:sp>
          <p:nvSpPr>
            <p:cNvPr id="193" name="Rounded Rectangle"/>
            <p:cNvSpPr/>
            <p:nvPr/>
          </p:nvSpPr>
          <p:spPr>
            <a:xfrm>
              <a:off x="0" y="0"/>
              <a:ext cx="1508763" cy="71323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25400" cap="flat">
              <a:solidFill>
                <a:srgbClr val="2F5E97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94" name="Abstraction"/>
            <p:cNvSpPr txBox="1"/>
            <p:nvPr/>
          </p:nvSpPr>
          <p:spPr>
            <a:xfrm>
              <a:off x="93236" y="171195"/>
              <a:ext cx="1322290" cy="3708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20242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Abstraction</a:t>
              </a:r>
            </a:p>
          </p:txBody>
        </p:sp>
      </p:grpSp>
      <p:sp>
        <p:nvSpPr>
          <p:cNvPr id="196" name="Connector 7"/>
          <p:cNvSpPr/>
          <p:nvPr/>
        </p:nvSpPr>
        <p:spPr>
          <a:xfrm>
            <a:off x="6071615" y="3145534"/>
            <a:ext cx="320042" cy="2"/>
          </a:xfrm>
          <a:prstGeom prst="line">
            <a:avLst/>
          </a:prstGeom>
          <a:ln w="19050">
            <a:solidFill>
              <a:srgbClr val="696F78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199" name="Rounded Rectangle 8"/>
          <p:cNvGrpSpPr/>
          <p:nvPr/>
        </p:nvGrpSpPr>
        <p:grpSpPr>
          <a:xfrm>
            <a:off x="6409944" y="2788920"/>
            <a:ext cx="1508763" cy="713235"/>
            <a:chOff x="0" y="0"/>
            <a:chExt cx="1508761" cy="713233"/>
          </a:xfrm>
        </p:grpSpPr>
        <p:sp>
          <p:nvSpPr>
            <p:cNvPr id="197" name="Rounded Rectangle"/>
            <p:cNvSpPr/>
            <p:nvPr/>
          </p:nvSpPr>
          <p:spPr>
            <a:xfrm>
              <a:off x="0" y="0"/>
              <a:ext cx="1508762" cy="71323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25400" cap="flat">
              <a:solidFill>
                <a:srgbClr val="20242A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98" name="Object"/>
            <p:cNvSpPr txBox="1"/>
            <p:nvPr/>
          </p:nvSpPr>
          <p:spPr>
            <a:xfrm>
              <a:off x="93236" y="171195"/>
              <a:ext cx="1322289" cy="3708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20242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Object</a:t>
              </a:r>
            </a:p>
          </p:txBody>
        </p:sp>
      </p:grpSp>
      <p:sp>
        <p:nvSpPr>
          <p:cNvPr id="200" name="Connector 9"/>
          <p:cNvSpPr/>
          <p:nvPr/>
        </p:nvSpPr>
        <p:spPr>
          <a:xfrm>
            <a:off x="7918704" y="3145534"/>
            <a:ext cx="320042" cy="2"/>
          </a:xfrm>
          <a:prstGeom prst="line">
            <a:avLst/>
          </a:prstGeom>
          <a:ln w="19050">
            <a:solidFill>
              <a:srgbClr val="696F78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03" name="Rounded Rectangle 10"/>
          <p:cNvGrpSpPr/>
          <p:nvPr/>
        </p:nvGrpSpPr>
        <p:grpSpPr>
          <a:xfrm>
            <a:off x="8257030" y="2788920"/>
            <a:ext cx="1508763" cy="713235"/>
            <a:chOff x="0" y="0"/>
            <a:chExt cx="1508761" cy="713233"/>
          </a:xfrm>
        </p:grpSpPr>
        <p:sp>
          <p:nvSpPr>
            <p:cNvPr id="201" name="Rounded Rectangle"/>
            <p:cNvSpPr/>
            <p:nvPr/>
          </p:nvSpPr>
          <p:spPr>
            <a:xfrm>
              <a:off x="0" y="0"/>
              <a:ext cx="1508762" cy="71323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25400" cap="flat">
              <a:solidFill>
                <a:srgbClr val="2F5E97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02" name="Constraint"/>
            <p:cNvSpPr txBox="1"/>
            <p:nvPr/>
          </p:nvSpPr>
          <p:spPr>
            <a:xfrm>
              <a:off x="93236" y="171195"/>
              <a:ext cx="1322289" cy="3708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20242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Constraint</a:t>
              </a:r>
            </a:p>
          </p:txBody>
        </p:sp>
      </p:grpSp>
      <p:sp>
        <p:nvSpPr>
          <p:cNvPr id="204" name="Connector 11"/>
          <p:cNvSpPr/>
          <p:nvPr/>
        </p:nvSpPr>
        <p:spPr>
          <a:xfrm>
            <a:off x="9765792" y="3145534"/>
            <a:ext cx="320042" cy="2"/>
          </a:xfrm>
          <a:prstGeom prst="line">
            <a:avLst/>
          </a:prstGeom>
          <a:ln w="19050">
            <a:solidFill>
              <a:srgbClr val="696F78"/>
            </a:solidFill>
          </a:ln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07" name="Rounded Rectangle 12"/>
          <p:cNvGrpSpPr/>
          <p:nvPr/>
        </p:nvGrpSpPr>
        <p:grpSpPr>
          <a:xfrm>
            <a:off x="10104118" y="2788920"/>
            <a:ext cx="1508763" cy="713235"/>
            <a:chOff x="0" y="0"/>
            <a:chExt cx="1508761" cy="713233"/>
          </a:xfrm>
        </p:grpSpPr>
        <p:sp>
          <p:nvSpPr>
            <p:cNvPr id="205" name="Rounded Rectangle"/>
            <p:cNvSpPr/>
            <p:nvPr/>
          </p:nvSpPr>
          <p:spPr>
            <a:xfrm>
              <a:off x="0" y="0"/>
              <a:ext cx="1508762" cy="71323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25400" cap="flat">
              <a:solidFill>
                <a:srgbClr val="20242A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06" name="Constraint"/>
            <p:cNvSpPr txBox="1"/>
            <p:nvPr/>
          </p:nvSpPr>
          <p:spPr>
            <a:xfrm>
              <a:off x="93237" y="171196"/>
              <a:ext cx="1322288" cy="3708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20242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Generalize</a:t>
              </a:r>
            </a:p>
          </p:txBody>
        </p:sp>
      </p:grpSp>
      <p:sp>
        <p:nvSpPr>
          <p:cNvPr id="208" name="TextBox 13"/>
          <p:cNvSpPr txBox="1"/>
          <p:nvPr/>
        </p:nvSpPr>
        <p:spPr>
          <a:xfrm>
            <a:off x="1325880" y="4709160"/>
            <a:ext cx="9509761" cy="65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We didn't know the solution at the beginning.</a:t>
            </a:r>
            <a:br/>
            <a:r>
              <a:t>We changed the way we looked at the problem.</a:t>
            </a:r>
          </a:p>
        </p:txBody>
      </p:sp>
      <p:sp>
        <p:nvSpPr>
          <p:cNvPr id="209" name="TextBox 14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11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Box 1"/>
          <p:cNvSpPr txBox="1"/>
          <p:nvPr/>
        </p:nvSpPr>
        <p:spPr>
          <a:xfrm>
            <a:off x="704087" y="438913"/>
            <a:ext cx="10789922" cy="497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700"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The bigger idea</a:t>
            </a:r>
          </a:p>
        </p:txBody>
      </p:sp>
      <p:sp>
        <p:nvSpPr>
          <p:cNvPr id="212" name="TextBox 2"/>
          <p:cNvSpPr txBox="1"/>
          <p:nvPr/>
        </p:nvSpPr>
        <p:spPr>
          <a:xfrm>
            <a:off x="1280159" y="1417320"/>
            <a:ext cx="9509761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•  What is really going on here?</a:t>
            </a:r>
          </a:p>
        </p:txBody>
      </p:sp>
      <p:sp>
        <p:nvSpPr>
          <p:cNvPr id="213" name="TextBox 3"/>
          <p:cNvSpPr txBox="1"/>
          <p:nvPr/>
        </p:nvSpPr>
        <p:spPr>
          <a:xfrm>
            <a:off x="1280159" y="2075689"/>
            <a:ext cx="9509761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•  What information is essential?</a:t>
            </a:r>
          </a:p>
        </p:txBody>
      </p:sp>
      <p:sp>
        <p:nvSpPr>
          <p:cNvPr id="214" name="TextBox 4"/>
          <p:cNvSpPr txBox="1"/>
          <p:nvPr/>
        </p:nvSpPr>
        <p:spPr>
          <a:xfrm>
            <a:off x="1280159" y="2734056"/>
            <a:ext cx="9509761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•  What structure is hiding underneath?</a:t>
            </a:r>
          </a:p>
        </p:txBody>
      </p:sp>
      <p:sp>
        <p:nvSpPr>
          <p:cNvPr id="215" name="TextBox 5"/>
          <p:cNvSpPr txBox="1"/>
          <p:nvPr/>
        </p:nvSpPr>
        <p:spPr>
          <a:xfrm>
            <a:off x="1280159" y="3392424"/>
            <a:ext cx="9509761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•  What object captures that structure?</a:t>
            </a:r>
          </a:p>
        </p:txBody>
      </p:sp>
      <p:sp>
        <p:nvSpPr>
          <p:cNvPr id="216" name="TextBox 6"/>
          <p:cNvSpPr txBox="1"/>
          <p:nvPr/>
        </p:nvSpPr>
        <p:spPr>
          <a:xfrm>
            <a:off x="1280159" y="4050792"/>
            <a:ext cx="9509761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•  What must that object satisfy?</a:t>
            </a:r>
          </a:p>
        </p:txBody>
      </p:sp>
      <p:sp>
        <p:nvSpPr>
          <p:cNvPr id="217" name="TextBox 7"/>
          <p:cNvSpPr txBox="1"/>
          <p:nvPr/>
        </p:nvSpPr>
        <p:spPr>
          <a:xfrm>
            <a:off x="1874519" y="5166360"/>
            <a:ext cx="8412482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>
                <a:solidFill>
                  <a:srgbClr val="2024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Problems  →  Structures  →  Conjectures  →  Proofs</a:t>
            </a:r>
          </a:p>
        </p:txBody>
      </p:sp>
      <p:sp>
        <p:nvSpPr>
          <p:cNvPr id="218" name="TextBox 8"/>
          <p:cNvSpPr txBox="1"/>
          <p:nvPr/>
        </p:nvSpPr>
        <p:spPr>
          <a:xfrm>
            <a:off x="11155678" y="6473953"/>
            <a:ext cx="320042" cy="231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r">
              <a:defRPr sz="900">
                <a:solidFill>
                  <a:srgbClr val="696F7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12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