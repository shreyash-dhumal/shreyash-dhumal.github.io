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822959" y="1691639"/>
            <a:ext cx="106070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4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Research Thinking in Mathematics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1234439" y="2761488"/>
            <a:ext cx="969264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From problems to structures, conjectures, and proofs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4251960" y="5257799"/>
            <a:ext cx="365760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2F5E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journey through one problem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 txBox="1"/>
          <p:nvPr/>
        </p:nvSpPr>
        <p:spPr>
          <a:xfrm>
            <a:off x="822959" y="1417319"/>
            <a:ext cx="10515602" cy="103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31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When mathematicians encounter an unsolved problem,</a:t>
            </a:r>
            <a:br/>
            <a:r>
              <a:t>what do they do?</a:t>
            </a:r>
          </a:p>
        </p:txBody>
      </p:sp>
      <p:sp>
        <p:nvSpPr>
          <p:cNvPr id="100" name="TextBox 2"/>
          <p:cNvSpPr txBox="1"/>
          <p:nvPr/>
        </p:nvSpPr>
        <p:spPr>
          <a:xfrm>
            <a:off x="2011679" y="3977638"/>
            <a:ext cx="822960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900">
                <a:solidFill>
                  <a:srgbClr val="2F5E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Problems  →  Structures  →  Conjectures  →  Proofs</a:t>
            </a:r>
          </a:p>
        </p:txBody>
      </p:sp>
      <p:sp>
        <p:nvSpPr>
          <p:cNvPr id="101" name="TextBox 3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704088" y="438912"/>
            <a:ext cx="107899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Can we cross every bridge exactly once?</a:t>
            </a:r>
          </a:p>
        </p:txBody>
      </p:sp>
      <p:sp>
        <p:nvSpPr>
          <p:cNvPr id="104" name="TextBox 2"/>
          <p:cNvSpPr txBox="1"/>
          <p:nvPr/>
        </p:nvSpPr>
        <p:spPr>
          <a:xfrm>
            <a:off x="758952" y="1353311"/>
            <a:ext cx="4663440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Start anywhere. Cross every bridge exactly once.</a:t>
            </a:r>
          </a:p>
        </p:txBody>
      </p:sp>
      <p:sp>
        <p:nvSpPr>
          <p:cNvPr id="105" name="TextBox 3"/>
          <p:cNvSpPr txBox="1"/>
          <p:nvPr/>
        </p:nvSpPr>
        <p:spPr>
          <a:xfrm>
            <a:off x="758951" y="1847088"/>
            <a:ext cx="44805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You may finish anywhere.</a:t>
            </a:r>
          </a:p>
        </p:txBody>
      </p:sp>
      <p:sp>
        <p:nvSpPr>
          <p:cNvPr id="106" name="TextBox 16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07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4930" y="2331720"/>
            <a:ext cx="7319092" cy="4114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 txBox="1"/>
          <p:nvPr/>
        </p:nvSpPr>
        <p:spPr>
          <a:xfrm>
            <a:off x="4952681" y="838022"/>
            <a:ext cx="107899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Let's try it.</a:t>
            </a:r>
          </a:p>
        </p:txBody>
      </p:sp>
      <p:sp>
        <p:nvSpPr>
          <p:cNvPr id="110" name="TextBox 2"/>
          <p:cNvSpPr txBox="1"/>
          <p:nvPr/>
        </p:nvSpPr>
        <p:spPr>
          <a:xfrm>
            <a:off x="3786512" y="2016013"/>
            <a:ext cx="1060704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Experiment before theory</a:t>
            </a:r>
          </a:p>
        </p:txBody>
      </p:sp>
      <p:sp>
        <p:nvSpPr>
          <p:cNvPr id="111" name="TextBox 3"/>
          <p:cNvSpPr txBox="1"/>
          <p:nvPr/>
        </p:nvSpPr>
        <p:spPr>
          <a:xfrm>
            <a:off x="4613848" y="3194004"/>
            <a:ext cx="420624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Try different starting points</a:t>
            </a:r>
            <a:br/>
            <a:r>
              <a:t>and different routes.</a:t>
            </a:r>
          </a:p>
        </p:txBody>
      </p:sp>
      <p:sp>
        <p:nvSpPr>
          <p:cNvPr id="112" name="TextBox 14"/>
          <p:cNvSpPr txBox="1"/>
          <p:nvPr/>
        </p:nvSpPr>
        <p:spPr>
          <a:xfrm>
            <a:off x="3849369" y="4524395"/>
            <a:ext cx="448056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200">
                <a:solidFill>
                  <a:srgbClr val="B8484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We keep getting stuck.</a:t>
            </a:r>
          </a:p>
        </p:txBody>
      </p:sp>
      <p:sp>
        <p:nvSpPr>
          <p:cNvPr id="113" name="TextBox 15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 txBox="1"/>
          <p:nvPr/>
        </p:nvSpPr>
        <p:spPr>
          <a:xfrm>
            <a:off x="2673890" y="760775"/>
            <a:ext cx="1078992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information actually matters?</a:t>
            </a:r>
          </a:p>
        </p:txBody>
      </p:sp>
      <p:sp>
        <p:nvSpPr>
          <p:cNvPr id="116" name="TextBox 2"/>
          <p:cNvSpPr txBox="1"/>
          <p:nvPr/>
        </p:nvSpPr>
        <p:spPr>
          <a:xfrm>
            <a:off x="2640679" y="1847233"/>
            <a:ext cx="1060704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Strip away the details</a:t>
            </a:r>
          </a:p>
        </p:txBody>
      </p:sp>
      <p:sp>
        <p:nvSpPr>
          <p:cNvPr id="117" name="TextBox 3"/>
          <p:cNvSpPr txBox="1"/>
          <p:nvPr/>
        </p:nvSpPr>
        <p:spPr>
          <a:xfrm>
            <a:off x="2634060" y="2890664"/>
            <a:ext cx="4069081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Does the exact shape of the land matter?</a:t>
            </a:r>
            <a:br/>
            <a:r>
              <a:t>Does the length of a bridge matter?</a:t>
            </a:r>
          </a:p>
        </p:txBody>
      </p:sp>
      <p:sp>
        <p:nvSpPr>
          <p:cNvPr id="118" name="TextBox 4"/>
          <p:cNvSpPr txBox="1"/>
          <p:nvPr/>
        </p:nvSpPr>
        <p:spPr>
          <a:xfrm>
            <a:off x="2656920" y="4365894"/>
            <a:ext cx="40233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What matters is only:</a:t>
            </a:r>
            <a:br/>
            <a:r>
              <a:t>who is connected to whom.</a:t>
            </a:r>
          </a:p>
        </p:txBody>
      </p:sp>
      <p:sp>
        <p:nvSpPr>
          <p:cNvPr id="119" name="TextBox 18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 txBox="1"/>
          <p:nvPr/>
        </p:nvSpPr>
        <p:spPr>
          <a:xfrm>
            <a:off x="704088" y="438912"/>
            <a:ext cx="107899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Can we represent the problem more simply?</a:t>
            </a:r>
          </a:p>
        </p:txBody>
      </p:sp>
      <p:sp>
        <p:nvSpPr>
          <p:cNvPr id="122" name="TextBox 2"/>
          <p:cNvSpPr txBox="1"/>
          <p:nvPr/>
        </p:nvSpPr>
        <p:spPr>
          <a:xfrm>
            <a:off x="795527" y="1417319"/>
            <a:ext cx="338328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2F5E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new object appears.</a:t>
            </a:r>
          </a:p>
        </p:txBody>
      </p:sp>
      <p:sp>
        <p:nvSpPr>
          <p:cNvPr id="123" name="TextBox 3"/>
          <p:cNvSpPr txBox="1"/>
          <p:nvPr/>
        </p:nvSpPr>
        <p:spPr>
          <a:xfrm>
            <a:off x="795527" y="2057399"/>
            <a:ext cx="338328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vertex = a location</a:t>
            </a:r>
          </a:p>
        </p:txBody>
      </p:sp>
      <p:sp>
        <p:nvSpPr>
          <p:cNvPr id="124" name="TextBox 4"/>
          <p:cNvSpPr txBox="1"/>
          <p:nvPr/>
        </p:nvSpPr>
        <p:spPr>
          <a:xfrm>
            <a:off x="795527" y="2514599"/>
            <a:ext cx="338328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edge = a connection</a:t>
            </a:r>
          </a:p>
        </p:txBody>
      </p:sp>
      <p:sp>
        <p:nvSpPr>
          <p:cNvPr id="125" name="TextBox 16"/>
          <p:cNvSpPr txBox="1"/>
          <p:nvPr/>
        </p:nvSpPr>
        <p:spPr>
          <a:xfrm>
            <a:off x="5623560" y="5486399"/>
            <a:ext cx="3931920" cy="297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geography problem → a graph problem</a:t>
            </a:r>
          </a:p>
        </p:txBody>
      </p:sp>
      <p:sp>
        <p:nvSpPr>
          <p:cNvPr id="126" name="TextBox 17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127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26" y="1930761"/>
            <a:ext cx="11094443" cy="44366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 txBox="1"/>
          <p:nvPr/>
        </p:nvSpPr>
        <p:spPr>
          <a:xfrm>
            <a:off x="1103198" y="529033"/>
            <a:ext cx="1078992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happens when we enter a region?</a:t>
            </a:r>
          </a:p>
        </p:txBody>
      </p:sp>
      <p:sp>
        <p:nvSpPr>
          <p:cNvPr id="130" name="TextBox 3"/>
          <p:cNvSpPr txBox="1"/>
          <p:nvPr/>
        </p:nvSpPr>
        <p:spPr>
          <a:xfrm>
            <a:off x="777239" y="2468879"/>
            <a:ext cx="40233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2F5E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Crossings come in pairs.</a:t>
            </a:r>
          </a:p>
        </p:txBody>
      </p:sp>
      <p:sp>
        <p:nvSpPr>
          <p:cNvPr id="131" name="TextBox 13"/>
          <p:cNvSpPr txBox="1"/>
          <p:nvPr/>
        </p:nvSpPr>
        <p:spPr>
          <a:xfrm>
            <a:off x="7178039" y="5486399"/>
            <a:ext cx="10972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2F5E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ENTER</a:t>
            </a:r>
          </a:p>
        </p:txBody>
      </p:sp>
      <p:sp>
        <p:nvSpPr>
          <p:cNvPr id="132" name="TextBox 14"/>
          <p:cNvSpPr txBox="1"/>
          <p:nvPr/>
        </p:nvSpPr>
        <p:spPr>
          <a:xfrm>
            <a:off x="8503920" y="5486399"/>
            <a:ext cx="10972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B8484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LEAVE</a:t>
            </a:r>
          </a:p>
        </p:txBody>
      </p:sp>
      <p:sp>
        <p:nvSpPr>
          <p:cNvPr id="133" name="TextBox 16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7</a:t>
            </a:r>
          </a:p>
        </p:txBody>
      </p:sp>
      <p:pic>
        <p:nvPicPr>
          <p:cNvPr id="134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4793" y="1534004"/>
            <a:ext cx="10184131" cy="45262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 txBox="1"/>
          <p:nvPr/>
        </p:nvSpPr>
        <p:spPr>
          <a:xfrm>
            <a:off x="704088" y="438912"/>
            <a:ext cx="107899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about the beginning and the end?</a:t>
            </a:r>
          </a:p>
        </p:txBody>
      </p:sp>
      <p:sp>
        <p:nvSpPr>
          <p:cNvPr id="137" name="TextBox 13"/>
          <p:cNvSpPr txBox="1"/>
          <p:nvPr/>
        </p:nvSpPr>
        <p:spPr>
          <a:xfrm>
            <a:off x="777239" y="1663254"/>
            <a:ext cx="3474721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Only the start and end</a:t>
            </a:r>
            <a:br/>
            <a:r>
              <a:t>can have an unmatched crossing.</a:t>
            </a:r>
          </a:p>
        </p:txBody>
      </p:sp>
      <p:sp>
        <p:nvSpPr>
          <p:cNvPr id="138" name="TextBox 14"/>
          <p:cNvSpPr txBox="1"/>
          <p:nvPr/>
        </p:nvSpPr>
        <p:spPr>
          <a:xfrm>
            <a:off x="777239" y="3090715"/>
            <a:ext cx="347472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Intermediate vertices → even degree</a:t>
            </a:r>
          </a:p>
        </p:txBody>
      </p:sp>
      <p:sp>
        <p:nvSpPr>
          <p:cNvPr id="139" name="TextBox 15"/>
          <p:cNvSpPr txBox="1"/>
          <p:nvPr/>
        </p:nvSpPr>
        <p:spPr>
          <a:xfrm>
            <a:off x="777239" y="4393270"/>
            <a:ext cx="347472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B8484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Therefore → at most 2 odd-degree vertices</a:t>
            </a:r>
          </a:p>
        </p:txBody>
      </p:sp>
      <p:sp>
        <p:nvSpPr>
          <p:cNvPr id="140" name="TextBox 16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 txBox="1"/>
          <p:nvPr/>
        </p:nvSpPr>
        <p:spPr>
          <a:xfrm>
            <a:off x="704088" y="438912"/>
            <a:ext cx="107899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Does Königsberg satisfy our condition?</a:t>
            </a:r>
          </a:p>
        </p:txBody>
      </p:sp>
      <p:sp>
        <p:nvSpPr>
          <p:cNvPr id="143" name="TextBox 13"/>
          <p:cNvSpPr txBox="1"/>
          <p:nvPr/>
        </p:nvSpPr>
        <p:spPr>
          <a:xfrm>
            <a:off x="6099048" y="1207007"/>
            <a:ext cx="42062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B8484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4" name="TextBox 14"/>
          <p:cNvSpPr txBox="1"/>
          <p:nvPr/>
        </p:nvSpPr>
        <p:spPr>
          <a:xfrm>
            <a:off x="9116567" y="1207007"/>
            <a:ext cx="42062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B8484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5" name="TextBox 15"/>
          <p:cNvSpPr txBox="1"/>
          <p:nvPr/>
        </p:nvSpPr>
        <p:spPr>
          <a:xfrm>
            <a:off x="6099048" y="3950208"/>
            <a:ext cx="42062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B8484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6" name="TextBox 16"/>
          <p:cNvSpPr txBox="1"/>
          <p:nvPr/>
        </p:nvSpPr>
        <p:spPr>
          <a:xfrm>
            <a:off x="9116567" y="3950208"/>
            <a:ext cx="42062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B8484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7" name="TextBox 17"/>
          <p:cNvSpPr txBox="1"/>
          <p:nvPr/>
        </p:nvSpPr>
        <p:spPr>
          <a:xfrm>
            <a:off x="685799" y="1600199"/>
            <a:ext cx="384048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B8484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All four vertices are odd.</a:t>
            </a:r>
          </a:p>
        </p:txBody>
      </p:sp>
      <p:sp>
        <p:nvSpPr>
          <p:cNvPr id="148" name="TextBox 18"/>
          <p:cNvSpPr txBox="1"/>
          <p:nvPr/>
        </p:nvSpPr>
        <p:spPr>
          <a:xfrm>
            <a:off x="685799" y="2423160"/>
            <a:ext cx="393192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But a valid journey can have</a:t>
            </a:r>
            <a:br/>
            <a:r>
              <a:t>at most two odd-degree vertices.</a:t>
            </a:r>
          </a:p>
        </p:txBody>
      </p:sp>
      <p:sp>
        <p:nvSpPr>
          <p:cNvPr id="149" name="TextBox 19"/>
          <p:cNvSpPr txBox="1"/>
          <p:nvPr/>
        </p:nvSpPr>
        <p:spPr>
          <a:xfrm>
            <a:off x="685800" y="3886200"/>
            <a:ext cx="3749040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So the journey is impossible.</a:t>
            </a:r>
          </a:p>
        </p:txBody>
      </p:sp>
      <p:sp>
        <p:nvSpPr>
          <p:cNvPr id="150" name="TextBox 20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9</a:t>
            </a:r>
          </a:p>
        </p:txBody>
      </p:sp>
      <p:pic>
        <p:nvPicPr>
          <p:cNvPr id="151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85415" y="1200150"/>
            <a:ext cx="4839494" cy="4457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 txBox="1"/>
          <p:nvPr/>
        </p:nvSpPr>
        <p:spPr>
          <a:xfrm>
            <a:off x="704088" y="438912"/>
            <a:ext cx="107899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We solved more than one problem.</a:t>
            </a:r>
          </a:p>
        </p:txBody>
      </p:sp>
      <p:sp>
        <p:nvSpPr>
          <p:cNvPr id="154" name="TextBox 2"/>
          <p:cNvSpPr txBox="1"/>
          <p:nvPr/>
        </p:nvSpPr>
        <p:spPr>
          <a:xfrm>
            <a:off x="722375" y="987552"/>
            <a:ext cx="1060704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Generalize</a:t>
            </a:r>
          </a:p>
        </p:txBody>
      </p:sp>
      <p:sp>
        <p:nvSpPr>
          <p:cNvPr id="155" name="TextBox 3"/>
          <p:cNvSpPr txBox="1"/>
          <p:nvPr/>
        </p:nvSpPr>
        <p:spPr>
          <a:xfrm>
            <a:off x="687118" y="1536192"/>
            <a:ext cx="402336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argument wasn't really about Königsberg.</a:t>
            </a:r>
          </a:p>
        </p:txBody>
      </p:sp>
      <p:sp>
        <p:nvSpPr>
          <p:cNvPr id="156" name="Connector 4"/>
          <p:cNvSpPr/>
          <p:nvPr/>
        </p:nvSpPr>
        <p:spPr>
          <a:xfrm>
            <a:off x="5120640" y="2468879"/>
            <a:ext cx="1188720" cy="1"/>
          </a:xfrm>
          <a:prstGeom prst="line">
            <a:avLst/>
          </a:prstGeom>
          <a:ln w="25400">
            <a:solidFill>
              <a:srgbClr val="20242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Connector 5"/>
          <p:cNvSpPr/>
          <p:nvPr/>
        </p:nvSpPr>
        <p:spPr>
          <a:xfrm flipH="1">
            <a:off x="5715000" y="2468879"/>
            <a:ext cx="594360" cy="1005840"/>
          </a:xfrm>
          <a:prstGeom prst="line">
            <a:avLst/>
          </a:prstGeom>
          <a:ln w="25400">
            <a:solidFill>
              <a:srgbClr val="20242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Connector 6"/>
          <p:cNvSpPr/>
          <p:nvPr/>
        </p:nvSpPr>
        <p:spPr>
          <a:xfrm flipH="1" flipV="1">
            <a:off x="5120640" y="2468880"/>
            <a:ext cx="594361" cy="1005840"/>
          </a:xfrm>
          <a:prstGeom prst="line">
            <a:avLst/>
          </a:prstGeom>
          <a:ln w="25400">
            <a:solidFill>
              <a:srgbClr val="20242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" name="Oval 7"/>
          <p:cNvSpPr/>
          <p:nvPr/>
        </p:nvSpPr>
        <p:spPr>
          <a:xfrm>
            <a:off x="5020054" y="236829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Oval 8"/>
          <p:cNvSpPr/>
          <p:nvPr/>
        </p:nvSpPr>
        <p:spPr>
          <a:xfrm>
            <a:off x="6208774" y="236829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Oval 9"/>
          <p:cNvSpPr/>
          <p:nvPr/>
        </p:nvSpPr>
        <p:spPr>
          <a:xfrm>
            <a:off x="5614415" y="337413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10"/>
          <p:cNvSpPr txBox="1"/>
          <p:nvPr/>
        </p:nvSpPr>
        <p:spPr>
          <a:xfrm>
            <a:off x="4983479" y="3886199"/>
            <a:ext cx="15544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2F5E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 odd</a:t>
            </a:r>
          </a:p>
        </p:txBody>
      </p:sp>
      <p:sp>
        <p:nvSpPr>
          <p:cNvPr id="163" name="Connector 11"/>
          <p:cNvSpPr/>
          <p:nvPr/>
        </p:nvSpPr>
        <p:spPr>
          <a:xfrm>
            <a:off x="7360919" y="2468879"/>
            <a:ext cx="1188721" cy="1"/>
          </a:xfrm>
          <a:prstGeom prst="line">
            <a:avLst/>
          </a:prstGeom>
          <a:ln w="25400">
            <a:solidFill>
              <a:srgbClr val="20242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" name="Connector 12"/>
          <p:cNvSpPr/>
          <p:nvPr/>
        </p:nvSpPr>
        <p:spPr>
          <a:xfrm flipH="1">
            <a:off x="7955280" y="2468879"/>
            <a:ext cx="594361" cy="1005840"/>
          </a:xfrm>
          <a:prstGeom prst="line">
            <a:avLst/>
          </a:prstGeom>
          <a:ln w="25400">
            <a:solidFill>
              <a:srgbClr val="20242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Oval 13"/>
          <p:cNvSpPr/>
          <p:nvPr/>
        </p:nvSpPr>
        <p:spPr>
          <a:xfrm>
            <a:off x="7260335" y="236829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Oval 14"/>
          <p:cNvSpPr/>
          <p:nvPr/>
        </p:nvSpPr>
        <p:spPr>
          <a:xfrm>
            <a:off x="8449056" y="236829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Oval 15"/>
          <p:cNvSpPr/>
          <p:nvPr/>
        </p:nvSpPr>
        <p:spPr>
          <a:xfrm>
            <a:off x="7854695" y="337413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16"/>
          <p:cNvSpPr txBox="1"/>
          <p:nvPr/>
        </p:nvSpPr>
        <p:spPr>
          <a:xfrm>
            <a:off x="7223760" y="3886199"/>
            <a:ext cx="15544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2F5E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 odd</a:t>
            </a:r>
          </a:p>
        </p:txBody>
      </p:sp>
      <p:sp>
        <p:nvSpPr>
          <p:cNvPr id="169" name="Connector 17"/>
          <p:cNvSpPr/>
          <p:nvPr/>
        </p:nvSpPr>
        <p:spPr>
          <a:xfrm>
            <a:off x="9601200" y="2468879"/>
            <a:ext cx="1188721" cy="1"/>
          </a:xfrm>
          <a:prstGeom prst="line">
            <a:avLst/>
          </a:prstGeom>
          <a:ln w="25400">
            <a:solidFill>
              <a:srgbClr val="20242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" name="Connector 18"/>
          <p:cNvSpPr/>
          <p:nvPr/>
        </p:nvSpPr>
        <p:spPr>
          <a:xfrm>
            <a:off x="10789919" y="2468879"/>
            <a:ext cx="1" cy="1005840"/>
          </a:xfrm>
          <a:prstGeom prst="line">
            <a:avLst/>
          </a:prstGeom>
          <a:ln w="25400">
            <a:solidFill>
              <a:srgbClr val="20242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" name="Connector 19"/>
          <p:cNvSpPr/>
          <p:nvPr/>
        </p:nvSpPr>
        <p:spPr>
          <a:xfrm flipH="1">
            <a:off x="9601199" y="3474720"/>
            <a:ext cx="1188721" cy="1"/>
          </a:xfrm>
          <a:prstGeom prst="line">
            <a:avLst/>
          </a:prstGeom>
          <a:ln w="25400">
            <a:solidFill>
              <a:srgbClr val="20242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" name="Connector 20"/>
          <p:cNvSpPr/>
          <p:nvPr/>
        </p:nvSpPr>
        <p:spPr>
          <a:xfrm flipV="1">
            <a:off x="9601200" y="2468880"/>
            <a:ext cx="0" cy="1005840"/>
          </a:xfrm>
          <a:prstGeom prst="line">
            <a:avLst/>
          </a:prstGeom>
          <a:ln w="25400">
            <a:solidFill>
              <a:srgbClr val="20242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" name="Oval 21"/>
          <p:cNvSpPr/>
          <p:nvPr/>
        </p:nvSpPr>
        <p:spPr>
          <a:xfrm>
            <a:off x="9500616" y="236829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Oval 22"/>
          <p:cNvSpPr/>
          <p:nvPr/>
        </p:nvSpPr>
        <p:spPr>
          <a:xfrm>
            <a:off x="10689335" y="236829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Oval 23"/>
          <p:cNvSpPr/>
          <p:nvPr/>
        </p:nvSpPr>
        <p:spPr>
          <a:xfrm>
            <a:off x="9500616" y="337413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Oval 24"/>
          <p:cNvSpPr/>
          <p:nvPr/>
        </p:nvSpPr>
        <p:spPr>
          <a:xfrm>
            <a:off x="10689335" y="3374135"/>
            <a:ext cx="201169" cy="201169"/>
          </a:xfrm>
          <a:prstGeom prst="ellipse">
            <a:avLst/>
          </a:prstGeom>
          <a:solidFill>
            <a:srgbClr val="2F5E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25"/>
          <p:cNvSpPr txBox="1"/>
          <p:nvPr/>
        </p:nvSpPr>
        <p:spPr>
          <a:xfrm>
            <a:off x="9464039" y="3886199"/>
            <a:ext cx="15544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2F5E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 odd</a:t>
            </a:r>
          </a:p>
        </p:txBody>
      </p:sp>
      <p:sp>
        <p:nvSpPr>
          <p:cNvPr id="178" name="TextBox 26"/>
          <p:cNvSpPr txBox="1"/>
          <p:nvPr/>
        </p:nvSpPr>
        <p:spPr>
          <a:xfrm>
            <a:off x="5120639" y="4983479"/>
            <a:ext cx="621792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general structural property emerges.</a:t>
            </a:r>
          </a:p>
        </p:txBody>
      </p:sp>
      <p:sp>
        <p:nvSpPr>
          <p:cNvPr id="179" name="TextBox 27"/>
          <p:cNvSpPr txBox="1"/>
          <p:nvPr/>
        </p:nvSpPr>
        <p:spPr>
          <a:xfrm>
            <a:off x="5120639" y="5532120"/>
            <a:ext cx="621792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 or 2 odd-degree vertices  →  Eulerian trail</a:t>
            </a:r>
          </a:p>
        </p:txBody>
      </p:sp>
      <p:sp>
        <p:nvSpPr>
          <p:cNvPr id="180" name="TextBox 28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 txBox="1"/>
          <p:nvPr/>
        </p:nvSpPr>
        <p:spPr>
          <a:xfrm>
            <a:off x="704088" y="438912"/>
            <a:ext cx="107899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just happened?</a:t>
            </a:r>
          </a:p>
        </p:txBody>
      </p:sp>
      <p:grpSp>
        <p:nvGrpSpPr>
          <p:cNvPr id="185" name="Rounded Rectangle 2"/>
          <p:cNvGrpSpPr/>
          <p:nvPr/>
        </p:nvGrpSpPr>
        <p:grpSpPr>
          <a:xfrm>
            <a:off x="868680" y="2788920"/>
            <a:ext cx="1508761" cy="713233"/>
            <a:chOff x="0" y="0"/>
            <a:chExt cx="1508760" cy="713231"/>
          </a:xfrm>
        </p:grpSpPr>
        <p:sp>
          <p:nvSpPr>
            <p:cNvPr id="183" name="Rounded Rectangle"/>
            <p:cNvSpPr/>
            <p:nvPr/>
          </p:nvSpPr>
          <p:spPr>
            <a:xfrm>
              <a:off x="0" y="0"/>
              <a:ext cx="1508761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2F5E9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4" name="Problem"/>
            <p:cNvSpPr txBox="1"/>
            <p:nvPr/>
          </p:nvSpPr>
          <p:spPr>
            <a:xfrm>
              <a:off x="93236" y="171195"/>
              <a:ext cx="132228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2024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Problem</a:t>
              </a:r>
            </a:p>
          </p:txBody>
        </p:sp>
      </p:grpSp>
      <p:sp>
        <p:nvSpPr>
          <p:cNvPr id="186" name="Connector 3"/>
          <p:cNvSpPr/>
          <p:nvPr/>
        </p:nvSpPr>
        <p:spPr>
          <a:xfrm>
            <a:off x="2377438" y="3145535"/>
            <a:ext cx="320042" cy="1"/>
          </a:xfrm>
          <a:prstGeom prst="line">
            <a:avLst/>
          </a:prstGeom>
          <a:ln w="19050">
            <a:solidFill>
              <a:srgbClr val="696F7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89" name="Rounded Rectangle 4"/>
          <p:cNvGrpSpPr/>
          <p:nvPr/>
        </p:nvGrpSpPr>
        <p:grpSpPr>
          <a:xfrm>
            <a:off x="2715767" y="2788920"/>
            <a:ext cx="1508761" cy="713233"/>
            <a:chOff x="0" y="0"/>
            <a:chExt cx="1508760" cy="713231"/>
          </a:xfrm>
        </p:grpSpPr>
        <p:sp>
          <p:nvSpPr>
            <p:cNvPr id="187" name="Rounded Rectangle"/>
            <p:cNvSpPr/>
            <p:nvPr/>
          </p:nvSpPr>
          <p:spPr>
            <a:xfrm>
              <a:off x="0" y="0"/>
              <a:ext cx="1508761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2024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8" name="Experiment"/>
            <p:cNvSpPr txBox="1"/>
            <p:nvPr/>
          </p:nvSpPr>
          <p:spPr>
            <a:xfrm>
              <a:off x="93236" y="171195"/>
              <a:ext cx="132228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2024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Experiment</a:t>
              </a:r>
            </a:p>
          </p:txBody>
        </p:sp>
      </p:grpSp>
      <p:sp>
        <p:nvSpPr>
          <p:cNvPr id="190" name="Connector 5"/>
          <p:cNvSpPr/>
          <p:nvPr/>
        </p:nvSpPr>
        <p:spPr>
          <a:xfrm>
            <a:off x="4224527" y="3145535"/>
            <a:ext cx="320042" cy="1"/>
          </a:xfrm>
          <a:prstGeom prst="line">
            <a:avLst/>
          </a:prstGeom>
          <a:ln w="19050">
            <a:solidFill>
              <a:srgbClr val="696F7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93" name="Rounded Rectangle 6"/>
          <p:cNvGrpSpPr/>
          <p:nvPr/>
        </p:nvGrpSpPr>
        <p:grpSpPr>
          <a:xfrm>
            <a:off x="4562855" y="2788920"/>
            <a:ext cx="1508762" cy="713233"/>
            <a:chOff x="0" y="0"/>
            <a:chExt cx="1508760" cy="713231"/>
          </a:xfrm>
        </p:grpSpPr>
        <p:sp>
          <p:nvSpPr>
            <p:cNvPr id="191" name="Rounded Rectangle"/>
            <p:cNvSpPr/>
            <p:nvPr/>
          </p:nvSpPr>
          <p:spPr>
            <a:xfrm>
              <a:off x="0" y="0"/>
              <a:ext cx="1508761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2F5E9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2" name="Abstraction"/>
            <p:cNvSpPr txBox="1"/>
            <p:nvPr/>
          </p:nvSpPr>
          <p:spPr>
            <a:xfrm>
              <a:off x="93236" y="171195"/>
              <a:ext cx="132228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2024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Abstraction</a:t>
              </a:r>
            </a:p>
          </p:txBody>
        </p:sp>
      </p:grpSp>
      <p:sp>
        <p:nvSpPr>
          <p:cNvPr id="194" name="Connector 7"/>
          <p:cNvSpPr/>
          <p:nvPr/>
        </p:nvSpPr>
        <p:spPr>
          <a:xfrm>
            <a:off x="6071615" y="3145535"/>
            <a:ext cx="320041" cy="1"/>
          </a:xfrm>
          <a:prstGeom prst="line">
            <a:avLst/>
          </a:prstGeom>
          <a:ln w="19050">
            <a:solidFill>
              <a:srgbClr val="696F7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97" name="Rounded Rectangle 8"/>
          <p:cNvGrpSpPr/>
          <p:nvPr/>
        </p:nvGrpSpPr>
        <p:grpSpPr>
          <a:xfrm>
            <a:off x="6409944" y="2788920"/>
            <a:ext cx="1508761" cy="713233"/>
            <a:chOff x="0" y="0"/>
            <a:chExt cx="1508760" cy="713231"/>
          </a:xfrm>
        </p:grpSpPr>
        <p:sp>
          <p:nvSpPr>
            <p:cNvPr id="195" name="Rounded Rectangle"/>
            <p:cNvSpPr/>
            <p:nvPr/>
          </p:nvSpPr>
          <p:spPr>
            <a:xfrm>
              <a:off x="0" y="0"/>
              <a:ext cx="1508761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2024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Object"/>
            <p:cNvSpPr txBox="1"/>
            <p:nvPr/>
          </p:nvSpPr>
          <p:spPr>
            <a:xfrm>
              <a:off x="93236" y="171195"/>
              <a:ext cx="132228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2024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Object</a:t>
              </a:r>
            </a:p>
          </p:txBody>
        </p:sp>
      </p:grpSp>
      <p:sp>
        <p:nvSpPr>
          <p:cNvPr id="198" name="Connector 9"/>
          <p:cNvSpPr/>
          <p:nvPr/>
        </p:nvSpPr>
        <p:spPr>
          <a:xfrm>
            <a:off x="7918704" y="3145535"/>
            <a:ext cx="320041" cy="1"/>
          </a:xfrm>
          <a:prstGeom prst="line">
            <a:avLst/>
          </a:prstGeom>
          <a:ln w="19050">
            <a:solidFill>
              <a:srgbClr val="696F7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201" name="Rounded Rectangle 10"/>
          <p:cNvGrpSpPr/>
          <p:nvPr/>
        </p:nvGrpSpPr>
        <p:grpSpPr>
          <a:xfrm>
            <a:off x="8257030" y="2788920"/>
            <a:ext cx="1508761" cy="713233"/>
            <a:chOff x="0" y="0"/>
            <a:chExt cx="1508760" cy="713231"/>
          </a:xfrm>
        </p:grpSpPr>
        <p:sp>
          <p:nvSpPr>
            <p:cNvPr id="199" name="Rounded Rectangle"/>
            <p:cNvSpPr/>
            <p:nvPr/>
          </p:nvSpPr>
          <p:spPr>
            <a:xfrm>
              <a:off x="0" y="0"/>
              <a:ext cx="1508761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2F5E9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0" name="Constraint"/>
            <p:cNvSpPr txBox="1"/>
            <p:nvPr/>
          </p:nvSpPr>
          <p:spPr>
            <a:xfrm>
              <a:off x="93236" y="171195"/>
              <a:ext cx="132228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2024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Constraint</a:t>
              </a:r>
            </a:p>
          </p:txBody>
        </p:sp>
      </p:grpSp>
      <p:sp>
        <p:nvSpPr>
          <p:cNvPr id="202" name="Connector 11"/>
          <p:cNvSpPr/>
          <p:nvPr/>
        </p:nvSpPr>
        <p:spPr>
          <a:xfrm>
            <a:off x="9765792" y="3145535"/>
            <a:ext cx="320041" cy="1"/>
          </a:xfrm>
          <a:prstGeom prst="line">
            <a:avLst/>
          </a:prstGeom>
          <a:ln w="19050">
            <a:solidFill>
              <a:srgbClr val="696F7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205" name="Rounded Rectangle 12"/>
          <p:cNvGrpSpPr/>
          <p:nvPr/>
        </p:nvGrpSpPr>
        <p:grpSpPr>
          <a:xfrm>
            <a:off x="10104118" y="2788920"/>
            <a:ext cx="1508761" cy="713233"/>
            <a:chOff x="0" y="0"/>
            <a:chExt cx="1508760" cy="713231"/>
          </a:xfrm>
        </p:grpSpPr>
        <p:sp>
          <p:nvSpPr>
            <p:cNvPr id="203" name="Rounded Rectangle"/>
            <p:cNvSpPr/>
            <p:nvPr/>
          </p:nvSpPr>
          <p:spPr>
            <a:xfrm>
              <a:off x="0" y="0"/>
              <a:ext cx="1508761" cy="7132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2024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4" name="Generalize"/>
            <p:cNvSpPr txBox="1"/>
            <p:nvPr/>
          </p:nvSpPr>
          <p:spPr>
            <a:xfrm>
              <a:off x="93236" y="171195"/>
              <a:ext cx="132228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696F7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Generalize</a:t>
              </a:r>
            </a:p>
          </p:txBody>
        </p:sp>
      </p:grpSp>
      <p:sp>
        <p:nvSpPr>
          <p:cNvPr id="206" name="TextBox 13"/>
          <p:cNvSpPr txBox="1"/>
          <p:nvPr/>
        </p:nvSpPr>
        <p:spPr>
          <a:xfrm>
            <a:off x="1325880" y="4709159"/>
            <a:ext cx="950976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We didn't know the solution at the beginning.</a:t>
            </a:r>
            <a:br/>
            <a:r>
              <a:t>We changed the way we looked at the problem.</a:t>
            </a:r>
          </a:p>
        </p:txBody>
      </p:sp>
      <p:sp>
        <p:nvSpPr>
          <p:cNvPr id="207" name="TextBox 14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"/>
          <p:cNvSpPr txBox="1"/>
          <p:nvPr/>
        </p:nvSpPr>
        <p:spPr>
          <a:xfrm>
            <a:off x="704088" y="438912"/>
            <a:ext cx="107899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bigger idea</a:t>
            </a:r>
          </a:p>
        </p:txBody>
      </p:sp>
      <p:sp>
        <p:nvSpPr>
          <p:cNvPr id="210" name="TextBox 2"/>
          <p:cNvSpPr txBox="1"/>
          <p:nvPr/>
        </p:nvSpPr>
        <p:spPr>
          <a:xfrm>
            <a:off x="1280159" y="1417319"/>
            <a:ext cx="95097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 What is really going on here?</a:t>
            </a:r>
          </a:p>
        </p:txBody>
      </p:sp>
      <p:sp>
        <p:nvSpPr>
          <p:cNvPr id="211" name="TextBox 3"/>
          <p:cNvSpPr txBox="1"/>
          <p:nvPr/>
        </p:nvSpPr>
        <p:spPr>
          <a:xfrm>
            <a:off x="1280159" y="2075688"/>
            <a:ext cx="95097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 What information is essential?</a:t>
            </a:r>
          </a:p>
        </p:txBody>
      </p:sp>
      <p:sp>
        <p:nvSpPr>
          <p:cNvPr id="212" name="TextBox 4"/>
          <p:cNvSpPr txBox="1"/>
          <p:nvPr/>
        </p:nvSpPr>
        <p:spPr>
          <a:xfrm>
            <a:off x="1280159" y="2734055"/>
            <a:ext cx="95097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 What structure is hiding underneath?</a:t>
            </a:r>
          </a:p>
        </p:txBody>
      </p:sp>
      <p:sp>
        <p:nvSpPr>
          <p:cNvPr id="213" name="TextBox 5"/>
          <p:cNvSpPr txBox="1"/>
          <p:nvPr/>
        </p:nvSpPr>
        <p:spPr>
          <a:xfrm>
            <a:off x="1280159" y="3392423"/>
            <a:ext cx="95097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 What object captures that structure?</a:t>
            </a:r>
          </a:p>
        </p:txBody>
      </p:sp>
      <p:sp>
        <p:nvSpPr>
          <p:cNvPr id="214" name="TextBox 6"/>
          <p:cNvSpPr txBox="1"/>
          <p:nvPr/>
        </p:nvSpPr>
        <p:spPr>
          <a:xfrm>
            <a:off x="1280159" y="4050791"/>
            <a:ext cx="950976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 What must that object satisfy?</a:t>
            </a:r>
          </a:p>
        </p:txBody>
      </p:sp>
      <p:sp>
        <p:nvSpPr>
          <p:cNvPr id="215" name="TextBox 7"/>
          <p:cNvSpPr txBox="1"/>
          <p:nvPr/>
        </p:nvSpPr>
        <p:spPr>
          <a:xfrm>
            <a:off x="1874520" y="5166359"/>
            <a:ext cx="841248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2024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Problems  →  Structures  →  Conjectures  →  Proofs</a:t>
            </a:r>
          </a:p>
        </p:txBody>
      </p:sp>
      <p:sp>
        <p:nvSpPr>
          <p:cNvPr id="216" name="TextBox 8"/>
          <p:cNvSpPr txBox="1"/>
          <p:nvPr/>
        </p:nvSpPr>
        <p:spPr>
          <a:xfrm>
            <a:off x="11155679" y="6473952"/>
            <a:ext cx="3200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>
                <a:solidFill>
                  <a:srgbClr val="696F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